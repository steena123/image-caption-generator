
<file path=[Content_Types].xml><?xml version="1.0" encoding="utf-8"?>
<Types xmlns="http://schemas.openxmlformats.org/package/2006/content-types">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diagrams/colors1.xml" ContentType="application/vnd.openxmlformats-officedocument.drawingml.diagramColors+xml"/>
  <Default Extension="svg" ContentType="image/svg+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diagrams/layout1.xml" ContentType="application/vnd.openxmlformats-officedocument.drawingml.diagram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ppt/notesSlides/notesSlide4.xml" ContentType="application/vnd.openxmlformats-officedocument.presentationml.notesSlide+xml"/>
  <Override PartName="/docProps/core.xml" ContentType="application/vnd.openxmlformats-package.core-properties+xml"/>
  <Override PartName="/customXml/itemProps2.xml" ContentType="application/vnd.openxmlformats-officedocument.customXml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4"/>
  </p:sldMasterIdLst>
  <p:notesMasterIdLst>
    <p:notesMasterId r:id="rId16"/>
  </p:notesMasterIdLst>
  <p:handoutMasterIdLst>
    <p:handoutMasterId r:id="rId17"/>
  </p:handoutMasterIdLst>
  <p:sldIdLst>
    <p:sldId id="257" r:id="rId5"/>
    <p:sldId id="261" r:id="rId6"/>
    <p:sldId id="272" r:id="rId7"/>
    <p:sldId id="274" r:id="rId8"/>
    <p:sldId id="276" r:id="rId9"/>
    <p:sldId id="277" r:id="rId10"/>
    <p:sldId id="278" r:id="rId11"/>
    <p:sldId id="281" r:id="rId12"/>
    <p:sldId id="279" r:id="rId13"/>
    <p:sldId id="280" r:id="rId14"/>
    <p:sldId id="273"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6980" autoAdjust="0"/>
    <p:restoredTop sz="94628"/>
  </p:normalViewPr>
  <p:slideViewPr>
    <p:cSldViewPr snapToGrid="0" snapToObjects="1">
      <p:cViewPr varScale="1">
        <p:scale>
          <a:sx n="96" d="100"/>
          <a:sy n="96" d="100"/>
        </p:scale>
        <p:origin x="-86" y="-154"/>
      </p:cViewPr>
      <p:guideLst>
        <p:guide orient="horz" pos="2160"/>
        <p:guide pos="3840"/>
      </p:guideLst>
    </p:cSldViewPr>
  </p:slideViewPr>
  <p:notesTextViewPr>
    <p:cViewPr>
      <p:scale>
        <a:sx n="1" d="1"/>
        <a:sy n="1" d="1"/>
      </p:scale>
      <p:origin x="0" y="0"/>
    </p:cViewPr>
  </p:notesTextViewPr>
  <p:notesViewPr>
    <p:cSldViewPr snapToGrid="0" snapToObjects="1">
      <p:cViewPr varScale="1">
        <p:scale>
          <a:sx n="68" d="100"/>
          <a:sy n="68" d="100"/>
        </p:scale>
        <p:origin x="3288" y="84"/>
      </p:cViewPr>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506BB50-51F7-4E46-A148-039EF14BC409}" type="doc">
      <dgm:prSet loTypeId="urn:microsoft.com/office/officeart/2016/7/layout/RepeatingBendingProcessNew" loCatId="process" qsTypeId="urn:microsoft.com/office/officeart/2005/8/quickstyle/simple1" qsCatId="simple" csTypeId="urn:microsoft.com/office/officeart/2005/8/colors/colorful1#1" csCatId="colorful" phldr="1"/>
      <dgm:spPr/>
      <dgm:t>
        <a:bodyPr/>
        <a:lstStyle/>
        <a:p>
          <a:endParaRPr lang="en-US"/>
        </a:p>
      </dgm:t>
    </dgm:pt>
    <dgm:pt modelId="{9F0137BB-A6CE-4BA9-9BF9-6F08B05B9197}">
      <dgm:prSet/>
      <dgm:spPr/>
      <dgm:t>
        <a:bodyPr/>
        <a:lstStyle/>
        <a:p>
          <a:r>
            <a:rPr lang="en-IN" b="1" dirty="0"/>
            <a:t>● Import Libraries</a:t>
          </a:r>
        </a:p>
        <a:p>
          <a:r>
            <a:rPr lang="en-IN" b="1" dirty="0" err="1"/>
            <a:t>Tensorflow</a:t>
          </a:r>
          <a:r>
            <a:rPr lang="en-IN" b="1" dirty="0"/>
            <a:t>, </a:t>
          </a:r>
          <a:r>
            <a:rPr lang="en-IN" b="1" dirty="0" err="1"/>
            <a:t>Os</a:t>
          </a:r>
          <a:r>
            <a:rPr lang="en-IN" b="1" dirty="0"/>
            <a:t>, Pickle, </a:t>
          </a:r>
          <a:r>
            <a:rPr lang="en-IN" b="1" dirty="0" err="1"/>
            <a:t>Keras</a:t>
          </a:r>
          <a:r>
            <a:rPr lang="en-IN" b="1" dirty="0"/>
            <a:t> </a:t>
          </a:r>
          <a:endParaRPr lang="en-US" b="1" dirty="0"/>
        </a:p>
      </dgm:t>
    </dgm:pt>
    <dgm:pt modelId="{B375EEA5-5BDD-4416-ADF3-34B773F21F73}" type="parTrans" cxnId="{8D459CB1-0632-4779-8CF6-14BD3F151700}">
      <dgm:prSet/>
      <dgm:spPr/>
      <dgm:t>
        <a:bodyPr/>
        <a:lstStyle/>
        <a:p>
          <a:endParaRPr lang="en-US"/>
        </a:p>
      </dgm:t>
    </dgm:pt>
    <dgm:pt modelId="{C56A2BDA-9225-4DF0-A734-3A7EF3DFDE0F}" type="sibTrans" cxnId="{8D459CB1-0632-4779-8CF6-14BD3F151700}">
      <dgm:prSet/>
      <dgm:spPr/>
      <dgm:t>
        <a:bodyPr/>
        <a:lstStyle/>
        <a:p>
          <a:endParaRPr lang="en-US"/>
        </a:p>
      </dgm:t>
    </dgm:pt>
    <dgm:pt modelId="{8A11C3F0-C3C7-412D-851E-17B24FCB30D8}">
      <dgm:prSet/>
      <dgm:spPr/>
      <dgm:t>
        <a:bodyPr/>
        <a:lstStyle/>
        <a:p>
          <a:r>
            <a:rPr lang="en-IN" b="1" dirty="0"/>
            <a:t>● Upload Flickr Dataset from Kaggle. (Data Preprocessing) </a:t>
          </a:r>
          <a:endParaRPr lang="en-US" b="1" dirty="0"/>
        </a:p>
      </dgm:t>
    </dgm:pt>
    <dgm:pt modelId="{AE1AA4E2-35AC-41A9-9D09-D294232A9F83}" type="parTrans" cxnId="{1CD51BBD-C8B8-4963-BA9E-526A93C595A6}">
      <dgm:prSet/>
      <dgm:spPr/>
      <dgm:t>
        <a:bodyPr/>
        <a:lstStyle/>
        <a:p>
          <a:endParaRPr lang="en-US"/>
        </a:p>
      </dgm:t>
    </dgm:pt>
    <dgm:pt modelId="{21FF7961-23AC-4F5F-B48B-0926AEE29F48}" type="sibTrans" cxnId="{1CD51BBD-C8B8-4963-BA9E-526A93C595A6}">
      <dgm:prSet/>
      <dgm:spPr/>
      <dgm:t>
        <a:bodyPr/>
        <a:lstStyle/>
        <a:p>
          <a:endParaRPr lang="en-US"/>
        </a:p>
      </dgm:t>
    </dgm:pt>
    <dgm:pt modelId="{F5D0850E-CBAA-4AF0-AD35-1094745A0FBA}">
      <dgm:prSet/>
      <dgm:spPr/>
      <dgm:t>
        <a:bodyPr/>
        <a:lstStyle/>
        <a:p>
          <a:r>
            <a:rPr lang="en-IN" b="1" dirty="0"/>
            <a:t>● Apply CNN to identify the objects in the image.</a:t>
          </a:r>
          <a:endParaRPr lang="en-US" b="1" dirty="0"/>
        </a:p>
      </dgm:t>
    </dgm:pt>
    <dgm:pt modelId="{3A9C2E74-C20B-4782-9D0C-66486EA1D5D8}" type="parTrans" cxnId="{40B5A533-F70D-4971-997E-71925FD0CA1A}">
      <dgm:prSet/>
      <dgm:spPr/>
      <dgm:t>
        <a:bodyPr/>
        <a:lstStyle/>
        <a:p>
          <a:endParaRPr lang="en-US"/>
        </a:p>
      </dgm:t>
    </dgm:pt>
    <dgm:pt modelId="{6C2061BB-EE52-49E9-AC61-26E788751D8D}" type="sibTrans" cxnId="{40B5A533-F70D-4971-997E-71925FD0CA1A}">
      <dgm:prSet/>
      <dgm:spPr/>
      <dgm:t>
        <a:bodyPr/>
        <a:lstStyle/>
        <a:p>
          <a:endParaRPr lang="en-US"/>
        </a:p>
      </dgm:t>
    </dgm:pt>
    <dgm:pt modelId="{92555728-FF74-4F57-9796-DE0E747618E6}">
      <dgm:prSet/>
      <dgm:spPr/>
      <dgm:t>
        <a:bodyPr/>
        <a:lstStyle/>
        <a:p>
          <a:r>
            <a:rPr lang="en-IN" b="1" dirty="0"/>
            <a:t>● Preprocess and tokenize the captions.</a:t>
          </a:r>
          <a:endParaRPr lang="en-US" b="1" dirty="0"/>
        </a:p>
      </dgm:t>
    </dgm:pt>
    <dgm:pt modelId="{EE14E4EE-C351-4F2B-88F0-E8A8C5311135}" type="parTrans" cxnId="{1756D3C0-CD63-4BCD-B009-5F18C98C2A58}">
      <dgm:prSet/>
      <dgm:spPr/>
      <dgm:t>
        <a:bodyPr/>
        <a:lstStyle/>
        <a:p>
          <a:endParaRPr lang="en-US"/>
        </a:p>
      </dgm:t>
    </dgm:pt>
    <dgm:pt modelId="{08D91F2F-FD83-439B-87B5-91E7AE54453E}" type="sibTrans" cxnId="{1756D3C0-CD63-4BCD-B009-5F18C98C2A58}">
      <dgm:prSet/>
      <dgm:spPr/>
      <dgm:t>
        <a:bodyPr/>
        <a:lstStyle/>
        <a:p>
          <a:endParaRPr lang="en-US"/>
        </a:p>
      </dgm:t>
    </dgm:pt>
    <dgm:pt modelId="{BA8A0E78-8D1D-4428-B85E-A9E72703FB42}">
      <dgm:prSet/>
      <dgm:spPr/>
      <dgm:t>
        <a:bodyPr/>
        <a:lstStyle/>
        <a:p>
          <a:r>
            <a:rPr lang="en-IN" b="1" dirty="0"/>
            <a:t>● Use LSTM to predict the next word of the sentence. </a:t>
          </a:r>
          <a:endParaRPr lang="en-US" b="1" dirty="0"/>
        </a:p>
      </dgm:t>
    </dgm:pt>
    <dgm:pt modelId="{1E042F9A-53F6-4C0B-AE41-54996AF19348}" type="parTrans" cxnId="{79498687-0A3C-4BA0-8803-4F987C5A54C8}">
      <dgm:prSet/>
      <dgm:spPr/>
      <dgm:t>
        <a:bodyPr/>
        <a:lstStyle/>
        <a:p>
          <a:endParaRPr lang="en-US"/>
        </a:p>
      </dgm:t>
    </dgm:pt>
    <dgm:pt modelId="{F39F8CBA-B3ED-4F8E-9B55-661C5FFA07D3}" type="sibTrans" cxnId="{79498687-0A3C-4BA0-8803-4F987C5A54C8}">
      <dgm:prSet/>
      <dgm:spPr/>
      <dgm:t>
        <a:bodyPr/>
        <a:lstStyle/>
        <a:p>
          <a:endParaRPr lang="en-US"/>
        </a:p>
      </dgm:t>
    </dgm:pt>
    <dgm:pt modelId="{5A8A68CF-1BEC-48BD-9F26-27972DBFB2AB}">
      <dgm:prSet/>
      <dgm:spPr/>
      <dgm:t>
        <a:bodyPr/>
        <a:lstStyle/>
        <a:p>
          <a:r>
            <a:rPr lang="en-IN" b="1" dirty="0"/>
            <a:t>● Make a Data Generator .</a:t>
          </a:r>
          <a:endParaRPr lang="en-US" b="1" dirty="0"/>
        </a:p>
      </dgm:t>
    </dgm:pt>
    <dgm:pt modelId="{946B4412-5F63-4D04-B850-E7D48B78C1A9}" type="parTrans" cxnId="{C69EBF20-ACCF-4F71-B2B9-40FED3EDF3BD}">
      <dgm:prSet/>
      <dgm:spPr/>
      <dgm:t>
        <a:bodyPr/>
        <a:lstStyle/>
        <a:p>
          <a:endParaRPr lang="en-US"/>
        </a:p>
      </dgm:t>
    </dgm:pt>
    <dgm:pt modelId="{457D8070-864F-4850-84B9-CA92314281DB}" type="sibTrans" cxnId="{C69EBF20-ACCF-4F71-B2B9-40FED3EDF3BD}">
      <dgm:prSet/>
      <dgm:spPr/>
      <dgm:t>
        <a:bodyPr/>
        <a:lstStyle/>
        <a:p>
          <a:endParaRPr lang="en-US"/>
        </a:p>
      </dgm:t>
    </dgm:pt>
    <dgm:pt modelId="{C2620085-CA60-43A0-9340-4DB1863B0642}">
      <dgm:prSet/>
      <dgm:spPr/>
      <dgm:t>
        <a:bodyPr/>
        <a:lstStyle/>
        <a:p>
          <a:r>
            <a:rPr lang="en-IN" b="1" dirty="0"/>
            <a:t>● View Images with caption.</a:t>
          </a:r>
          <a:endParaRPr lang="en-US" b="1" dirty="0"/>
        </a:p>
      </dgm:t>
    </dgm:pt>
    <dgm:pt modelId="{C7103569-EACB-468C-9A3A-CF9B325CBEB4}" type="parTrans" cxnId="{8CD918F1-0281-4605-A1AB-7BC3C99AD2E5}">
      <dgm:prSet/>
      <dgm:spPr/>
      <dgm:t>
        <a:bodyPr/>
        <a:lstStyle/>
        <a:p>
          <a:endParaRPr lang="en-US"/>
        </a:p>
      </dgm:t>
    </dgm:pt>
    <dgm:pt modelId="{24BA26F2-5970-4EDA-BD63-FC696EF6F2CD}" type="sibTrans" cxnId="{8CD918F1-0281-4605-A1AB-7BC3C99AD2E5}">
      <dgm:prSet/>
      <dgm:spPr/>
      <dgm:t>
        <a:bodyPr/>
        <a:lstStyle/>
        <a:p>
          <a:endParaRPr lang="en-US"/>
        </a:p>
      </dgm:t>
    </dgm:pt>
    <dgm:pt modelId="{D058E3A6-1A4C-4764-B6AD-C0A2AF0F03DB}" type="pres">
      <dgm:prSet presAssocID="{C506BB50-51F7-4E46-A148-039EF14BC409}" presName="Name0" presStyleCnt="0">
        <dgm:presLayoutVars>
          <dgm:dir/>
          <dgm:resizeHandles val="exact"/>
        </dgm:presLayoutVars>
      </dgm:prSet>
      <dgm:spPr/>
      <dgm:t>
        <a:bodyPr/>
        <a:lstStyle/>
        <a:p>
          <a:endParaRPr lang="en-US"/>
        </a:p>
      </dgm:t>
    </dgm:pt>
    <dgm:pt modelId="{A4081EEA-6208-461A-933D-04358EBBD90B}" type="pres">
      <dgm:prSet presAssocID="{9F0137BB-A6CE-4BA9-9BF9-6F08B05B9197}" presName="node" presStyleLbl="node1" presStyleIdx="0" presStyleCnt="7">
        <dgm:presLayoutVars>
          <dgm:bulletEnabled val="1"/>
        </dgm:presLayoutVars>
      </dgm:prSet>
      <dgm:spPr/>
      <dgm:t>
        <a:bodyPr/>
        <a:lstStyle/>
        <a:p>
          <a:endParaRPr lang="en-US"/>
        </a:p>
      </dgm:t>
    </dgm:pt>
    <dgm:pt modelId="{6B4BB0DC-36EE-46AB-A810-C99FBC4CD6C7}" type="pres">
      <dgm:prSet presAssocID="{C56A2BDA-9225-4DF0-A734-3A7EF3DFDE0F}" presName="sibTrans" presStyleLbl="sibTrans1D1" presStyleIdx="0" presStyleCnt="6"/>
      <dgm:spPr/>
      <dgm:t>
        <a:bodyPr/>
        <a:lstStyle/>
        <a:p>
          <a:endParaRPr lang="en-US"/>
        </a:p>
      </dgm:t>
    </dgm:pt>
    <dgm:pt modelId="{8AB4851E-E2A8-4A50-9FB0-5720DA82D558}" type="pres">
      <dgm:prSet presAssocID="{C56A2BDA-9225-4DF0-A734-3A7EF3DFDE0F}" presName="connectorText" presStyleLbl="sibTrans1D1" presStyleIdx="0" presStyleCnt="6"/>
      <dgm:spPr/>
      <dgm:t>
        <a:bodyPr/>
        <a:lstStyle/>
        <a:p>
          <a:endParaRPr lang="en-US"/>
        </a:p>
      </dgm:t>
    </dgm:pt>
    <dgm:pt modelId="{077632AF-42A2-479D-9F15-2561119B68B2}" type="pres">
      <dgm:prSet presAssocID="{8A11C3F0-C3C7-412D-851E-17B24FCB30D8}" presName="node" presStyleLbl="node1" presStyleIdx="1" presStyleCnt="7">
        <dgm:presLayoutVars>
          <dgm:bulletEnabled val="1"/>
        </dgm:presLayoutVars>
      </dgm:prSet>
      <dgm:spPr/>
      <dgm:t>
        <a:bodyPr/>
        <a:lstStyle/>
        <a:p>
          <a:endParaRPr lang="en-US"/>
        </a:p>
      </dgm:t>
    </dgm:pt>
    <dgm:pt modelId="{F8BA1827-0608-45DE-971B-7C7C580E6C32}" type="pres">
      <dgm:prSet presAssocID="{21FF7961-23AC-4F5F-B48B-0926AEE29F48}" presName="sibTrans" presStyleLbl="sibTrans1D1" presStyleIdx="1" presStyleCnt="6"/>
      <dgm:spPr/>
      <dgm:t>
        <a:bodyPr/>
        <a:lstStyle/>
        <a:p>
          <a:endParaRPr lang="en-US"/>
        </a:p>
      </dgm:t>
    </dgm:pt>
    <dgm:pt modelId="{FD8F72E1-F0ED-4B1B-980A-AB4F6E800586}" type="pres">
      <dgm:prSet presAssocID="{21FF7961-23AC-4F5F-B48B-0926AEE29F48}" presName="connectorText" presStyleLbl="sibTrans1D1" presStyleIdx="1" presStyleCnt="6"/>
      <dgm:spPr/>
      <dgm:t>
        <a:bodyPr/>
        <a:lstStyle/>
        <a:p>
          <a:endParaRPr lang="en-US"/>
        </a:p>
      </dgm:t>
    </dgm:pt>
    <dgm:pt modelId="{E9C4ECA8-EBA4-4701-9F99-54E6FA67E42F}" type="pres">
      <dgm:prSet presAssocID="{F5D0850E-CBAA-4AF0-AD35-1094745A0FBA}" presName="node" presStyleLbl="node1" presStyleIdx="2" presStyleCnt="7">
        <dgm:presLayoutVars>
          <dgm:bulletEnabled val="1"/>
        </dgm:presLayoutVars>
      </dgm:prSet>
      <dgm:spPr/>
      <dgm:t>
        <a:bodyPr/>
        <a:lstStyle/>
        <a:p>
          <a:endParaRPr lang="en-US"/>
        </a:p>
      </dgm:t>
    </dgm:pt>
    <dgm:pt modelId="{64DFF39F-BE33-40DD-936B-76DD331BD581}" type="pres">
      <dgm:prSet presAssocID="{6C2061BB-EE52-49E9-AC61-26E788751D8D}" presName="sibTrans" presStyleLbl="sibTrans1D1" presStyleIdx="2" presStyleCnt="6"/>
      <dgm:spPr/>
      <dgm:t>
        <a:bodyPr/>
        <a:lstStyle/>
        <a:p>
          <a:endParaRPr lang="en-US"/>
        </a:p>
      </dgm:t>
    </dgm:pt>
    <dgm:pt modelId="{5F05E752-8AEF-45F5-936E-6E43291267B8}" type="pres">
      <dgm:prSet presAssocID="{6C2061BB-EE52-49E9-AC61-26E788751D8D}" presName="connectorText" presStyleLbl="sibTrans1D1" presStyleIdx="2" presStyleCnt="6"/>
      <dgm:spPr/>
      <dgm:t>
        <a:bodyPr/>
        <a:lstStyle/>
        <a:p>
          <a:endParaRPr lang="en-US"/>
        </a:p>
      </dgm:t>
    </dgm:pt>
    <dgm:pt modelId="{F9564E7F-1268-401A-B487-716F135BF0FA}" type="pres">
      <dgm:prSet presAssocID="{92555728-FF74-4F57-9796-DE0E747618E6}" presName="node" presStyleLbl="node1" presStyleIdx="3" presStyleCnt="7">
        <dgm:presLayoutVars>
          <dgm:bulletEnabled val="1"/>
        </dgm:presLayoutVars>
      </dgm:prSet>
      <dgm:spPr/>
      <dgm:t>
        <a:bodyPr/>
        <a:lstStyle/>
        <a:p>
          <a:endParaRPr lang="en-US"/>
        </a:p>
      </dgm:t>
    </dgm:pt>
    <dgm:pt modelId="{44DCC7CF-D196-4153-A9A6-4932D46F810C}" type="pres">
      <dgm:prSet presAssocID="{08D91F2F-FD83-439B-87B5-91E7AE54453E}" presName="sibTrans" presStyleLbl="sibTrans1D1" presStyleIdx="3" presStyleCnt="6"/>
      <dgm:spPr/>
      <dgm:t>
        <a:bodyPr/>
        <a:lstStyle/>
        <a:p>
          <a:endParaRPr lang="en-US"/>
        </a:p>
      </dgm:t>
    </dgm:pt>
    <dgm:pt modelId="{52C204A6-0D83-43F0-B171-A88BD4E98D45}" type="pres">
      <dgm:prSet presAssocID="{08D91F2F-FD83-439B-87B5-91E7AE54453E}" presName="connectorText" presStyleLbl="sibTrans1D1" presStyleIdx="3" presStyleCnt="6"/>
      <dgm:spPr/>
      <dgm:t>
        <a:bodyPr/>
        <a:lstStyle/>
        <a:p>
          <a:endParaRPr lang="en-US"/>
        </a:p>
      </dgm:t>
    </dgm:pt>
    <dgm:pt modelId="{AB83C58C-5514-4C0F-A934-71CB4374CC07}" type="pres">
      <dgm:prSet presAssocID="{BA8A0E78-8D1D-4428-B85E-A9E72703FB42}" presName="node" presStyleLbl="node1" presStyleIdx="4" presStyleCnt="7">
        <dgm:presLayoutVars>
          <dgm:bulletEnabled val="1"/>
        </dgm:presLayoutVars>
      </dgm:prSet>
      <dgm:spPr/>
      <dgm:t>
        <a:bodyPr/>
        <a:lstStyle/>
        <a:p>
          <a:endParaRPr lang="en-US"/>
        </a:p>
      </dgm:t>
    </dgm:pt>
    <dgm:pt modelId="{0795E257-7BC5-446B-8446-6FD7DB98A70C}" type="pres">
      <dgm:prSet presAssocID="{F39F8CBA-B3ED-4F8E-9B55-661C5FFA07D3}" presName="sibTrans" presStyleLbl="sibTrans1D1" presStyleIdx="4" presStyleCnt="6"/>
      <dgm:spPr/>
      <dgm:t>
        <a:bodyPr/>
        <a:lstStyle/>
        <a:p>
          <a:endParaRPr lang="en-US"/>
        </a:p>
      </dgm:t>
    </dgm:pt>
    <dgm:pt modelId="{0A297FBB-684F-4100-81A1-A7C64CA68E6F}" type="pres">
      <dgm:prSet presAssocID="{F39F8CBA-B3ED-4F8E-9B55-661C5FFA07D3}" presName="connectorText" presStyleLbl="sibTrans1D1" presStyleIdx="4" presStyleCnt="6"/>
      <dgm:spPr/>
      <dgm:t>
        <a:bodyPr/>
        <a:lstStyle/>
        <a:p>
          <a:endParaRPr lang="en-US"/>
        </a:p>
      </dgm:t>
    </dgm:pt>
    <dgm:pt modelId="{77BEB08E-62C2-4270-9686-112AF0C70F87}" type="pres">
      <dgm:prSet presAssocID="{5A8A68CF-1BEC-48BD-9F26-27972DBFB2AB}" presName="node" presStyleLbl="node1" presStyleIdx="5" presStyleCnt="7">
        <dgm:presLayoutVars>
          <dgm:bulletEnabled val="1"/>
        </dgm:presLayoutVars>
      </dgm:prSet>
      <dgm:spPr/>
      <dgm:t>
        <a:bodyPr/>
        <a:lstStyle/>
        <a:p>
          <a:endParaRPr lang="en-US"/>
        </a:p>
      </dgm:t>
    </dgm:pt>
    <dgm:pt modelId="{34B2EF79-5191-45B1-A70B-98C642B0A084}" type="pres">
      <dgm:prSet presAssocID="{457D8070-864F-4850-84B9-CA92314281DB}" presName="sibTrans" presStyleLbl="sibTrans1D1" presStyleIdx="5" presStyleCnt="6"/>
      <dgm:spPr/>
      <dgm:t>
        <a:bodyPr/>
        <a:lstStyle/>
        <a:p>
          <a:endParaRPr lang="en-US"/>
        </a:p>
      </dgm:t>
    </dgm:pt>
    <dgm:pt modelId="{AB8C8A6B-CBE1-421B-9EC4-EC395D1F1F4F}" type="pres">
      <dgm:prSet presAssocID="{457D8070-864F-4850-84B9-CA92314281DB}" presName="connectorText" presStyleLbl="sibTrans1D1" presStyleIdx="5" presStyleCnt="6"/>
      <dgm:spPr/>
      <dgm:t>
        <a:bodyPr/>
        <a:lstStyle/>
        <a:p>
          <a:endParaRPr lang="en-US"/>
        </a:p>
      </dgm:t>
    </dgm:pt>
    <dgm:pt modelId="{312128D8-E61B-468E-B2D1-17D510BD3FDC}" type="pres">
      <dgm:prSet presAssocID="{C2620085-CA60-43A0-9340-4DB1863B0642}" presName="node" presStyleLbl="node1" presStyleIdx="6" presStyleCnt="7">
        <dgm:presLayoutVars>
          <dgm:bulletEnabled val="1"/>
        </dgm:presLayoutVars>
      </dgm:prSet>
      <dgm:spPr/>
      <dgm:t>
        <a:bodyPr/>
        <a:lstStyle/>
        <a:p>
          <a:endParaRPr lang="en-US"/>
        </a:p>
      </dgm:t>
    </dgm:pt>
  </dgm:ptLst>
  <dgm:cxnLst>
    <dgm:cxn modelId="{4738456C-9F8B-4718-8748-B5AE7E1FF500}" type="presOf" srcId="{C2620085-CA60-43A0-9340-4DB1863B0642}" destId="{312128D8-E61B-468E-B2D1-17D510BD3FDC}" srcOrd="0" destOrd="0" presId="urn:microsoft.com/office/officeart/2016/7/layout/RepeatingBendingProcessNew"/>
    <dgm:cxn modelId="{1CD51BBD-C8B8-4963-BA9E-526A93C595A6}" srcId="{C506BB50-51F7-4E46-A148-039EF14BC409}" destId="{8A11C3F0-C3C7-412D-851E-17B24FCB30D8}" srcOrd="1" destOrd="0" parTransId="{AE1AA4E2-35AC-41A9-9D09-D294232A9F83}" sibTransId="{21FF7961-23AC-4F5F-B48B-0926AEE29F48}"/>
    <dgm:cxn modelId="{4EFD0021-E545-4245-BD22-8983785A6569}" type="presOf" srcId="{F5D0850E-CBAA-4AF0-AD35-1094745A0FBA}" destId="{E9C4ECA8-EBA4-4701-9F99-54E6FA67E42F}" srcOrd="0" destOrd="0" presId="urn:microsoft.com/office/officeart/2016/7/layout/RepeatingBendingProcessNew"/>
    <dgm:cxn modelId="{C17DD0DF-2A07-4C1F-93F5-259E49CD38AE}" type="presOf" srcId="{08D91F2F-FD83-439B-87B5-91E7AE54453E}" destId="{52C204A6-0D83-43F0-B171-A88BD4E98D45}" srcOrd="1" destOrd="0" presId="urn:microsoft.com/office/officeart/2016/7/layout/RepeatingBendingProcessNew"/>
    <dgm:cxn modelId="{726DC8AB-E448-480B-8CF3-67F815B3F76A}" type="presOf" srcId="{C56A2BDA-9225-4DF0-A734-3A7EF3DFDE0F}" destId="{8AB4851E-E2A8-4A50-9FB0-5720DA82D558}" srcOrd="1" destOrd="0" presId="urn:microsoft.com/office/officeart/2016/7/layout/RepeatingBendingProcessNew"/>
    <dgm:cxn modelId="{8D459CB1-0632-4779-8CF6-14BD3F151700}" srcId="{C506BB50-51F7-4E46-A148-039EF14BC409}" destId="{9F0137BB-A6CE-4BA9-9BF9-6F08B05B9197}" srcOrd="0" destOrd="0" parTransId="{B375EEA5-5BDD-4416-ADF3-34B773F21F73}" sibTransId="{C56A2BDA-9225-4DF0-A734-3A7EF3DFDE0F}"/>
    <dgm:cxn modelId="{F8E47C55-B122-4396-9B6E-B8C353522833}" type="presOf" srcId="{457D8070-864F-4850-84B9-CA92314281DB}" destId="{34B2EF79-5191-45B1-A70B-98C642B0A084}" srcOrd="0" destOrd="0" presId="urn:microsoft.com/office/officeart/2016/7/layout/RepeatingBendingProcessNew"/>
    <dgm:cxn modelId="{79498687-0A3C-4BA0-8803-4F987C5A54C8}" srcId="{C506BB50-51F7-4E46-A148-039EF14BC409}" destId="{BA8A0E78-8D1D-4428-B85E-A9E72703FB42}" srcOrd="4" destOrd="0" parTransId="{1E042F9A-53F6-4C0B-AE41-54996AF19348}" sibTransId="{F39F8CBA-B3ED-4F8E-9B55-661C5FFA07D3}"/>
    <dgm:cxn modelId="{3B2B7847-E22E-4A3D-B89C-9728BCA7A0EB}" type="presOf" srcId="{C506BB50-51F7-4E46-A148-039EF14BC409}" destId="{D058E3A6-1A4C-4764-B6AD-C0A2AF0F03DB}" srcOrd="0" destOrd="0" presId="urn:microsoft.com/office/officeart/2016/7/layout/RepeatingBendingProcessNew"/>
    <dgm:cxn modelId="{815FA8E4-B9E4-4037-B5C8-06FD92339CE6}" type="presOf" srcId="{8A11C3F0-C3C7-412D-851E-17B24FCB30D8}" destId="{077632AF-42A2-479D-9F15-2561119B68B2}" srcOrd="0" destOrd="0" presId="urn:microsoft.com/office/officeart/2016/7/layout/RepeatingBendingProcessNew"/>
    <dgm:cxn modelId="{8CD918F1-0281-4605-A1AB-7BC3C99AD2E5}" srcId="{C506BB50-51F7-4E46-A148-039EF14BC409}" destId="{C2620085-CA60-43A0-9340-4DB1863B0642}" srcOrd="6" destOrd="0" parTransId="{C7103569-EACB-468C-9A3A-CF9B325CBEB4}" sibTransId="{24BA26F2-5970-4EDA-BD63-FC696EF6F2CD}"/>
    <dgm:cxn modelId="{1756D3C0-CD63-4BCD-B009-5F18C98C2A58}" srcId="{C506BB50-51F7-4E46-A148-039EF14BC409}" destId="{92555728-FF74-4F57-9796-DE0E747618E6}" srcOrd="3" destOrd="0" parTransId="{EE14E4EE-C351-4F2B-88F0-E8A8C5311135}" sibTransId="{08D91F2F-FD83-439B-87B5-91E7AE54453E}"/>
    <dgm:cxn modelId="{C8F133DA-5962-41D2-9ADF-584163F98279}" type="presOf" srcId="{21FF7961-23AC-4F5F-B48B-0926AEE29F48}" destId="{FD8F72E1-F0ED-4B1B-980A-AB4F6E800586}" srcOrd="1" destOrd="0" presId="urn:microsoft.com/office/officeart/2016/7/layout/RepeatingBendingProcessNew"/>
    <dgm:cxn modelId="{099F18F3-9A6C-4050-BAED-DDD8E3D5EF8B}" type="presOf" srcId="{08D91F2F-FD83-439B-87B5-91E7AE54453E}" destId="{44DCC7CF-D196-4153-A9A6-4932D46F810C}" srcOrd="0" destOrd="0" presId="urn:microsoft.com/office/officeart/2016/7/layout/RepeatingBendingProcessNew"/>
    <dgm:cxn modelId="{770DA7BF-7635-4B7A-BAF2-17BBD3699BAD}" type="presOf" srcId="{5A8A68CF-1BEC-48BD-9F26-27972DBFB2AB}" destId="{77BEB08E-62C2-4270-9686-112AF0C70F87}" srcOrd="0" destOrd="0" presId="urn:microsoft.com/office/officeart/2016/7/layout/RepeatingBendingProcessNew"/>
    <dgm:cxn modelId="{CA81F06C-8A64-460B-8C1D-43D5E62C8EC5}" type="presOf" srcId="{21FF7961-23AC-4F5F-B48B-0926AEE29F48}" destId="{F8BA1827-0608-45DE-971B-7C7C580E6C32}" srcOrd="0" destOrd="0" presId="urn:microsoft.com/office/officeart/2016/7/layout/RepeatingBendingProcessNew"/>
    <dgm:cxn modelId="{7ACA5AFA-3842-442F-BF37-F063F40D694E}" type="presOf" srcId="{C56A2BDA-9225-4DF0-A734-3A7EF3DFDE0F}" destId="{6B4BB0DC-36EE-46AB-A810-C99FBC4CD6C7}" srcOrd="0" destOrd="0" presId="urn:microsoft.com/office/officeart/2016/7/layout/RepeatingBendingProcessNew"/>
    <dgm:cxn modelId="{31174E81-2915-4CF8-A3AE-3EA6B31086EE}" type="presOf" srcId="{457D8070-864F-4850-84B9-CA92314281DB}" destId="{AB8C8A6B-CBE1-421B-9EC4-EC395D1F1F4F}" srcOrd="1" destOrd="0" presId="urn:microsoft.com/office/officeart/2016/7/layout/RepeatingBendingProcessNew"/>
    <dgm:cxn modelId="{8373542F-2D18-40C2-A235-1E8A094C352C}" type="presOf" srcId="{9F0137BB-A6CE-4BA9-9BF9-6F08B05B9197}" destId="{A4081EEA-6208-461A-933D-04358EBBD90B}" srcOrd="0" destOrd="0" presId="urn:microsoft.com/office/officeart/2016/7/layout/RepeatingBendingProcessNew"/>
    <dgm:cxn modelId="{AFB73A96-6933-4A86-9E53-0FA36812C249}" type="presOf" srcId="{BA8A0E78-8D1D-4428-B85E-A9E72703FB42}" destId="{AB83C58C-5514-4C0F-A934-71CB4374CC07}" srcOrd="0" destOrd="0" presId="urn:microsoft.com/office/officeart/2016/7/layout/RepeatingBendingProcessNew"/>
    <dgm:cxn modelId="{3E11C623-5A0B-427F-95DA-85B028202B95}" type="presOf" srcId="{6C2061BB-EE52-49E9-AC61-26E788751D8D}" destId="{64DFF39F-BE33-40DD-936B-76DD331BD581}" srcOrd="0" destOrd="0" presId="urn:microsoft.com/office/officeart/2016/7/layout/RepeatingBendingProcessNew"/>
    <dgm:cxn modelId="{CFDB0A6B-CDE2-42D8-A037-2A15B2EDA535}" type="presOf" srcId="{6C2061BB-EE52-49E9-AC61-26E788751D8D}" destId="{5F05E752-8AEF-45F5-936E-6E43291267B8}" srcOrd="1" destOrd="0" presId="urn:microsoft.com/office/officeart/2016/7/layout/RepeatingBendingProcessNew"/>
    <dgm:cxn modelId="{156143EA-7590-4FD5-BA3A-24B948E37370}" type="presOf" srcId="{92555728-FF74-4F57-9796-DE0E747618E6}" destId="{F9564E7F-1268-401A-B487-716F135BF0FA}" srcOrd="0" destOrd="0" presId="urn:microsoft.com/office/officeart/2016/7/layout/RepeatingBendingProcessNew"/>
    <dgm:cxn modelId="{9F3F48B1-1EC1-46CC-8C54-85CA5F8609FA}" type="presOf" srcId="{F39F8CBA-B3ED-4F8E-9B55-661C5FFA07D3}" destId="{0795E257-7BC5-446B-8446-6FD7DB98A70C}" srcOrd="0" destOrd="0" presId="urn:microsoft.com/office/officeart/2016/7/layout/RepeatingBendingProcessNew"/>
    <dgm:cxn modelId="{40B5A533-F70D-4971-997E-71925FD0CA1A}" srcId="{C506BB50-51F7-4E46-A148-039EF14BC409}" destId="{F5D0850E-CBAA-4AF0-AD35-1094745A0FBA}" srcOrd="2" destOrd="0" parTransId="{3A9C2E74-C20B-4782-9D0C-66486EA1D5D8}" sibTransId="{6C2061BB-EE52-49E9-AC61-26E788751D8D}"/>
    <dgm:cxn modelId="{C69EBF20-ACCF-4F71-B2B9-40FED3EDF3BD}" srcId="{C506BB50-51F7-4E46-A148-039EF14BC409}" destId="{5A8A68CF-1BEC-48BD-9F26-27972DBFB2AB}" srcOrd="5" destOrd="0" parTransId="{946B4412-5F63-4D04-B850-E7D48B78C1A9}" sibTransId="{457D8070-864F-4850-84B9-CA92314281DB}"/>
    <dgm:cxn modelId="{B249EC1C-3440-448F-BB8D-AEBDE5D9D238}" type="presOf" srcId="{F39F8CBA-B3ED-4F8E-9B55-661C5FFA07D3}" destId="{0A297FBB-684F-4100-81A1-A7C64CA68E6F}" srcOrd="1" destOrd="0" presId="urn:microsoft.com/office/officeart/2016/7/layout/RepeatingBendingProcessNew"/>
    <dgm:cxn modelId="{025507BD-8684-49DE-967D-0BC8F30DEEDD}" type="presParOf" srcId="{D058E3A6-1A4C-4764-B6AD-C0A2AF0F03DB}" destId="{A4081EEA-6208-461A-933D-04358EBBD90B}" srcOrd="0" destOrd="0" presId="urn:microsoft.com/office/officeart/2016/7/layout/RepeatingBendingProcessNew"/>
    <dgm:cxn modelId="{566285A6-8608-4C8A-8C94-578471C654E5}" type="presParOf" srcId="{D058E3A6-1A4C-4764-B6AD-C0A2AF0F03DB}" destId="{6B4BB0DC-36EE-46AB-A810-C99FBC4CD6C7}" srcOrd="1" destOrd="0" presId="urn:microsoft.com/office/officeart/2016/7/layout/RepeatingBendingProcessNew"/>
    <dgm:cxn modelId="{3BD02809-D553-486D-8340-A812299E6540}" type="presParOf" srcId="{6B4BB0DC-36EE-46AB-A810-C99FBC4CD6C7}" destId="{8AB4851E-E2A8-4A50-9FB0-5720DA82D558}" srcOrd="0" destOrd="0" presId="urn:microsoft.com/office/officeart/2016/7/layout/RepeatingBendingProcessNew"/>
    <dgm:cxn modelId="{03004A04-323E-422A-ACFE-4F25EFFB26A0}" type="presParOf" srcId="{D058E3A6-1A4C-4764-B6AD-C0A2AF0F03DB}" destId="{077632AF-42A2-479D-9F15-2561119B68B2}" srcOrd="2" destOrd="0" presId="urn:microsoft.com/office/officeart/2016/7/layout/RepeatingBendingProcessNew"/>
    <dgm:cxn modelId="{64D29E88-160D-42FF-9834-777963CB2E19}" type="presParOf" srcId="{D058E3A6-1A4C-4764-B6AD-C0A2AF0F03DB}" destId="{F8BA1827-0608-45DE-971B-7C7C580E6C32}" srcOrd="3" destOrd="0" presId="urn:microsoft.com/office/officeart/2016/7/layout/RepeatingBendingProcessNew"/>
    <dgm:cxn modelId="{E50CFB61-F3EB-4BA7-AA74-36CCFA24EC01}" type="presParOf" srcId="{F8BA1827-0608-45DE-971B-7C7C580E6C32}" destId="{FD8F72E1-F0ED-4B1B-980A-AB4F6E800586}" srcOrd="0" destOrd="0" presId="urn:microsoft.com/office/officeart/2016/7/layout/RepeatingBendingProcessNew"/>
    <dgm:cxn modelId="{78E5714A-5F70-42A6-80FE-1BD2A962A7E4}" type="presParOf" srcId="{D058E3A6-1A4C-4764-B6AD-C0A2AF0F03DB}" destId="{E9C4ECA8-EBA4-4701-9F99-54E6FA67E42F}" srcOrd="4" destOrd="0" presId="urn:microsoft.com/office/officeart/2016/7/layout/RepeatingBendingProcessNew"/>
    <dgm:cxn modelId="{252B1383-E470-476D-B3B2-E94152687EF0}" type="presParOf" srcId="{D058E3A6-1A4C-4764-B6AD-C0A2AF0F03DB}" destId="{64DFF39F-BE33-40DD-936B-76DD331BD581}" srcOrd="5" destOrd="0" presId="urn:microsoft.com/office/officeart/2016/7/layout/RepeatingBendingProcessNew"/>
    <dgm:cxn modelId="{A2E6CDA3-AD30-401E-9D22-D7F4DF6357CA}" type="presParOf" srcId="{64DFF39F-BE33-40DD-936B-76DD331BD581}" destId="{5F05E752-8AEF-45F5-936E-6E43291267B8}" srcOrd="0" destOrd="0" presId="urn:microsoft.com/office/officeart/2016/7/layout/RepeatingBendingProcessNew"/>
    <dgm:cxn modelId="{BFA81009-53B2-4F60-A4CB-647B9635F75B}" type="presParOf" srcId="{D058E3A6-1A4C-4764-B6AD-C0A2AF0F03DB}" destId="{F9564E7F-1268-401A-B487-716F135BF0FA}" srcOrd="6" destOrd="0" presId="urn:microsoft.com/office/officeart/2016/7/layout/RepeatingBendingProcessNew"/>
    <dgm:cxn modelId="{7BE87C7E-7A01-44A6-B024-088C24180FCB}" type="presParOf" srcId="{D058E3A6-1A4C-4764-B6AD-C0A2AF0F03DB}" destId="{44DCC7CF-D196-4153-A9A6-4932D46F810C}" srcOrd="7" destOrd="0" presId="urn:microsoft.com/office/officeart/2016/7/layout/RepeatingBendingProcessNew"/>
    <dgm:cxn modelId="{B3BAA4E8-097C-42FB-9E1F-22C7B3D30589}" type="presParOf" srcId="{44DCC7CF-D196-4153-A9A6-4932D46F810C}" destId="{52C204A6-0D83-43F0-B171-A88BD4E98D45}" srcOrd="0" destOrd="0" presId="urn:microsoft.com/office/officeart/2016/7/layout/RepeatingBendingProcessNew"/>
    <dgm:cxn modelId="{6B475A4D-294B-44A0-803B-5763DD435B45}" type="presParOf" srcId="{D058E3A6-1A4C-4764-B6AD-C0A2AF0F03DB}" destId="{AB83C58C-5514-4C0F-A934-71CB4374CC07}" srcOrd="8" destOrd="0" presId="urn:microsoft.com/office/officeart/2016/7/layout/RepeatingBendingProcessNew"/>
    <dgm:cxn modelId="{D13FBEE9-760F-41E1-97A8-26435CFE4537}" type="presParOf" srcId="{D058E3A6-1A4C-4764-B6AD-C0A2AF0F03DB}" destId="{0795E257-7BC5-446B-8446-6FD7DB98A70C}" srcOrd="9" destOrd="0" presId="urn:microsoft.com/office/officeart/2016/7/layout/RepeatingBendingProcessNew"/>
    <dgm:cxn modelId="{407FCC7D-8F4C-47E0-826C-C7FC64C6FD6E}" type="presParOf" srcId="{0795E257-7BC5-446B-8446-6FD7DB98A70C}" destId="{0A297FBB-684F-4100-81A1-A7C64CA68E6F}" srcOrd="0" destOrd="0" presId="urn:microsoft.com/office/officeart/2016/7/layout/RepeatingBendingProcessNew"/>
    <dgm:cxn modelId="{DFE04926-772D-4F20-B303-DD3EAA777F59}" type="presParOf" srcId="{D058E3A6-1A4C-4764-B6AD-C0A2AF0F03DB}" destId="{77BEB08E-62C2-4270-9686-112AF0C70F87}" srcOrd="10" destOrd="0" presId="urn:microsoft.com/office/officeart/2016/7/layout/RepeatingBendingProcessNew"/>
    <dgm:cxn modelId="{FAC3F4FF-1492-4EB0-BC5E-BC101CC6F994}" type="presParOf" srcId="{D058E3A6-1A4C-4764-B6AD-C0A2AF0F03DB}" destId="{34B2EF79-5191-45B1-A70B-98C642B0A084}" srcOrd="11" destOrd="0" presId="urn:microsoft.com/office/officeart/2016/7/layout/RepeatingBendingProcessNew"/>
    <dgm:cxn modelId="{80937469-A69F-4573-AA66-BF8267363063}" type="presParOf" srcId="{34B2EF79-5191-45B1-A70B-98C642B0A084}" destId="{AB8C8A6B-CBE1-421B-9EC4-EC395D1F1F4F}" srcOrd="0" destOrd="0" presId="urn:microsoft.com/office/officeart/2016/7/layout/RepeatingBendingProcessNew"/>
    <dgm:cxn modelId="{F646B760-DC58-4CB9-A9FD-B04555428D5C}" type="presParOf" srcId="{D058E3A6-1A4C-4764-B6AD-C0A2AF0F03DB}" destId="{312128D8-E61B-468E-B2D1-17D510BD3FDC}" srcOrd="12" destOrd="0" presId="urn:microsoft.com/office/officeart/2016/7/layout/RepeatingBendingProcessNew"/>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4BB0DC-36EE-46AB-A810-C99FBC4CD6C7}">
      <dsp:nvSpPr>
        <dsp:cNvPr id="0" name=""/>
        <dsp:cNvSpPr/>
      </dsp:nvSpPr>
      <dsp:spPr>
        <a:xfrm>
          <a:off x="2046459" y="895744"/>
          <a:ext cx="440060" cy="91440"/>
        </a:xfrm>
        <a:custGeom>
          <a:avLst/>
          <a:gdLst/>
          <a:ahLst/>
          <a:cxnLst/>
          <a:rect l="0" t="0" r="0" b="0"/>
          <a:pathLst>
            <a:path>
              <a:moveTo>
                <a:pt x="0" y="45720"/>
              </a:moveTo>
              <a:lnTo>
                <a:pt x="440060" y="45720"/>
              </a:lnTo>
            </a:path>
          </a:pathLst>
        </a:custGeom>
        <a:noFill/>
        <a:ln w="6350" cap="flat" cmpd="sng" algn="in">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54723" y="939111"/>
        <a:ext cx="23533" cy="4706"/>
      </dsp:txXfrm>
    </dsp:sp>
    <dsp:sp modelId="{A4081EEA-6208-461A-933D-04358EBBD90B}">
      <dsp:nvSpPr>
        <dsp:cNvPr id="0" name=""/>
        <dsp:cNvSpPr/>
      </dsp:nvSpPr>
      <dsp:spPr>
        <a:xfrm>
          <a:off x="1910" y="327560"/>
          <a:ext cx="2046349" cy="1227809"/>
        </a:xfrm>
        <a:prstGeom prst="rect">
          <a:avLst/>
        </a:prstGeom>
        <a:solidFill>
          <a:schemeClr val="accent2">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0273" tIns="105254" rIns="100273" bIns="105254" numCol="1" spcCol="1270" anchor="ctr" anchorCtr="0">
          <a:noAutofit/>
        </a:bodyPr>
        <a:lstStyle/>
        <a:p>
          <a:pPr marL="0" lvl="0" indent="0" algn="ctr" defTabSz="844550">
            <a:lnSpc>
              <a:spcPct val="90000"/>
            </a:lnSpc>
            <a:spcBef>
              <a:spcPct val="0"/>
            </a:spcBef>
            <a:spcAft>
              <a:spcPct val="35000"/>
            </a:spcAft>
            <a:buNone/>
          </a:pPr>
          <a:r>
            <a:rPr lang="en-IN" sz="1900" b="1" kern="1200" dirty="0"/>
            <a:t>● Import Libraries</a:t>
          </a:r>
        </a:p>
        <a:p>
          <a:pPr marL="0" lvl="0" indent="0" algn="ctr" defTabSz="844550">
            <a:lnSpc>
              <a:spcPct val="90000"/>
            </a:lnSpc>
            <a:spcBef>
              <a:spcPct val="0"/>
            </a:spcBef>
            <a:spcAft>
              <a:spcPct val="35000"/>
            </a:spcAft>
            <a:buNone/>
          </a:pPr>
          <a:r>
            <a:rPr lang="en-IN" sz="1900" b="1" kern="1200" dirty="0" err="1"/>
            <a:t>Tensorflow</a:t>
          </a:r>
          <a:r>
            <a:rPr lang="en-IN" sz="1900" b="1" kern="1200" dirty="0"/>
            <a:t>, </a:t>
          </a:r>
          <a:r>
            <a:rPr lang="en-IN" sz="1900" b="1" kern="1200" dirty="0" err="1"/>
            <a:t>Os</a:t>
          </a:r>
          <a:r>
            <a:rPr lang="en-IN" sz="1900" b="1" kern="1200" dirty="0"/>
            <a:t>, Pickle, </a:t>
          </a:r>
          <a:r>
            <a:rPr lang="en-IN" sz="1900" b="1" kern="1200" dirty="0" err="1"/>
            <a:t>Keras</a:t>
          </a:r>
          <a:r>
            <a:rPr lang="en-IN" sz="1900" b="1" kern="1200" dirty="0"/>
            <a:t> </a:t>
          </a:r>
          <a:endParaRPr lang="en-US" sz="1900" b="1" kern="1200" dirty="0"/>
        </a:p>
      </dsp:txBody>
      <dsp:txXfrm>
        <a:off x="1910" y="327560"/>
        <a:ext cx="2046349" cy="1227809"/>
      </dsp:txXfrm>
    </dsp:sp>
    <dsp:sp modelId="{F8BA1827-0608-45DE-971B-7C7C580E6C32}">
      <dsp:nvSpPr>
        <dsp:cNvPr id="0" name=""/>
        <dsp:cNvSpPr/>
      </dsp:nvSpPr>
      <dsp:spPr>
        <a:xfrm>
          <a:off x="4563469" y="895744"/>
          <a:ext cx="440060" cy="91440"/>
        </a:xfrm>
        <a:custGeom>
          <a:avLst/>
          <a:gdLst/>
          <a:ahLst/>
          <a:cxnLst/>
          <a:rect l="0" t="0" r="0" b="0"/>
          <a:pathLst>
            <a:path>
              <a:moveTo>
                <a:pt x="0" y="45720"/>
              </a:moveTo>
              <a:lnTo>
                <a:pt x="440060" y="45720"/>
              </a:lnTo>
            </a:path>
          </a:pathLst>
        </a:custGeom>
        <a:noFill/>
        <a:ln w="6350" cap="flat" cmpd="sng" algn="in">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71733" y="939111"/>
        <a:ext cx="23533" cy="4706"/>
      </dsp:txXfrm>
    </dsp:sp>
    <dsp:sp modelId="{077632AF-42A2-479D-9F15-2561119B68B2}">
      <dsp:nvSpPr>
        <dsp:cNvPr id="0" name=""/>
        <dsp:cNvSpPr/>
      </dsp:nvSpPr>
      <dsp:spPr>
        <a:xfrm>
          <a:off x="2518920" y="327560"/>
          <a:ext cx="2046349" cy="1227809"/>
        </a:xfrm>
        <a:prstGeom prst="rect">
          <a:avLst/>
        </a:prstGeom>
        <a:solidFill>
          <a:schemeClr val="accent3">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0273" tIns="105254" rIns="100273" bIns="105254" numCol="1" spcCol="1270" anchor="ctr" anchorCtr="0">
          <a:noAutofit/>
        </a:bodyPr>
        <a:lstStyle/>
        <a:p>
          <a:pPr marL="0" lvl="0" indent="0" algn="ctr" defTabSz="844550">
            <a:lnSpc>
              <a:spcPct val="90000"/>
            </a:lnSpc>
            <a:spcBef>
              <a:spcPct val="0"/>
            </a:spcBef>
            <a:spcAft>
              <a:spcPct val="35000"/>
            </a:spcAft>
            <a:buNone/>
          </a:pPr>
          <a:r>
            <a:rPr lang="en-IN" sz="1900" b="1" kern="1200" dirty="0"/>
            <a:t>● Upload Flickr Dataset from Kaggle. (Data Preprocessing) </a:t>
          </a:r>
          <a:endParaRPr lang="en-US" sz="1900" b="1" kern="1200" dirty="0"/>
        </a:p>
      </dsp:txBody>
      <dsp:txXfrm>
        <a:off x="2518920" y="327560"/>
        <a:ext cx="2046349" cy="1227809"/>
      </dsp:txXfrm>
    </dsp:sp>
    <dsp:sp modelId="{64DFF39F-BE33-40DD-936B-76DD331BD581}">
      <dsp:nvSpPr>
        <dsp:cNvPr id="0" name=""/>
        <dsp:cNvSpPr/>
      </dsp:nvSpPr>
      <dsp:spPr>
        <a:xfrm>
          <a:off x="7080479" y="895744"/>
          <a:ext cx="440060" cy="91440"/>
        </a:xfrm>
        <a:custGeom>
          <a:avLst/>
          <a:gdLst/>
          <a:ahLst/>
          <a:cxnLst/>
          <a:rect l="0" t="0" r="0" b="0"/>
          <a:pathLst>
            <a:path>
              <a:moveTo>
                <a:pt x="0" y="45720"/>
              </a:moveTo>
              <a:lnTo>
                <a:pt x="440060" y="45720"/>
              </a:lnTo>
            </a:path>
          </a:pathLst>
        </a:custGeom>
        <a:noFill/>
        <a:ln w="6350" cap="flat" cmpd="sng" algn="in">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288743" y="939111"/>
        <a:ext cx="23533" cy="4706"/>
      </dsp:txXfrm>
    </dsp:sp>
    <dsp:sp modelId="{E9C4ECA8-EBA4-4701-9F99-54E6FA67E42F}">
      <dsp:nvSpPr>
        <dsp:cNvPr id="0" name=""/>
        <dsp:cNvSpPr/>
      </dsp:nvSpPr>
      <dsp:spPr>
        <a:xfrm>
          <a:off x="5035930" y="327560"/>
          <a:ext cx="2046349" cy="1227809"/>
        </a:xfrm>
        <a:prstGeom prst="rect">
          <a:avLst/>
        </a:prstGeom>
        <a:solidFill>
          <a:schemeClr val="accent4">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0273" tIns="105254" rIns="100273" bIns="105254" numCol="1" spcCol="1270" anchor="ctr" anchorCtr="0">
          <a:noAutofit/>
        </a:bodyPr>
        <a:lstStyle/>
        <a:p>
          <a:pPr marL="0" lvl="0" indent="0" algn="ctr" defTabSz="844550">
            <a:lnSpc>
              <a:spcPct val="90000"/>
            </a:lnSpc>
            <a:spcBef>
              <a:spcPct val="0"/>
            </a:spcBef>
            <a:spcAft>
              <a:spcPct val="35000"/>
            </a:spcAft>
            <a:buNone/>
          </a:pPr>
          <a:r>
            <a:rPr lang="en-IN" sz="1900" b="1" kern="1200" dirty="0"/>
            <a:t>● Apply CNN to identify the objects in the image.</a:t>
          </a:r>
          <a:endParaRPr lang="en-US" sz="1900" b="1" kern="1200" dirty="0"/>
        </a:p>
      </dsp:txBody>
      <dsp:txXfrm>
        <a:off x="5035930" y="327560"/>
        <a:ext cx="2046349" cy="1227809"/>
      </dsp:txXfrm>
    </dsp:sp>
    <dsp:sp modelId="{44DCC7CF-D196-4153-A9A6-4932D46F810C}">
      <dsp:nvSpPr>
        <dsp:cNvPr id="0" name=""/>
        <dsp:cNvSpPr/>
      </dsp:nvSpPr>
      <dsp:spPr>
        <a:xfrm>
          <a:off x="1025085" y="1553569"/>
          <a:ext cx="7551029" cy="440060"/>
        </a:xfrm>
        <a:custGeom>
          <a:avLst/>
          <a:gdLst/>
          <a:ahLst/>
          <a:cxnLst/>
          <a:rect l="0" t="0" r="0" b="0"/>
          <a:pathLst>
            <a:path>
              <a:moveTo>
                <a:pt x="7551029" y="0"/>
              </a:moveTo>
              <a:lnTo>
                <a:pt x="7551029" y="237130"/>
              </a:lnTo>
              <a:lnTo>
                <a:pt x="0" y="237130"/>
              </a:lnTo>
              <a:lnTo>
                <a:pt x="0" y="440060"/>
              </a:lnTo>
            </a:path>
          </a:pathLst>
        </a:custGeom>
        <a:noFill/>
        <a:ln w="6350" cap="flat" cmpd="sng" algn="in">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11457" y="1771246"/>
        <a:ext cx="378284" cy="4706"/>
      </dsp:txXfrm>
    </dsp:sp>
    <dsp:sp modelId="{F9564E7F-1268-401A-B487-716F135BF0FA}">
      <dsp:nvSpPr>
        <dsp:cNvPr id="0" name=""/>
        <dsp:cNvSpPr/>
      </dsp:nvSpPr>
      <dsp:spPr>
        <a:xfrm>
          <a:off x="7552940" y="327560"/>
          <a:ext cx="2046349" cy="1227809"/>
        </a:xfrm>
        <a:prstGeom prst="rect">
          <a:avLst/>
        </a:prstGeom>
        <a:solidFill>
          <a:schemeClr val="accent5">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0273" tIns="105254" rIns="100273" bIns="105254" numCol="1" spcCol="1270" anchor="ctr" anchorCtr="0">
          <a:noAutofit/>
        </a:bodyPr>
        <a:lstStyle/>
        <a:p>
          <a:pPr marL="0" lvl="0" indent="0" algn="ctr" defTabSz="844550">
            <a:lnSpc>
              <a:spcPct val="90000"/>
            </a:lnSpc>
            <a:spcBef>
              <a:spcPct val="0"/>
            </a:spcBef>
            <a:spcAft>
              <a:spcPct val="35000"/>
            </a:spcAft>
            <a:buNone/>
          </a:pPr>
          <a:r>
            <a:rPr lang="en-IN" sz="1900" b="1" kern="1200" dirty="0"/>
            <a:t>● Preprocess and tokenize the captions.</a:t>
          </a:r>
          <a:endParaRPr lang="en-US" sz="1900" b="1" kern="1200" dirty="0"/>
        </a:p>
      </dsp:txBody>
      <dsp:txXfrm>
        <a:off x="7552940" y="327560"/>
        <a:ext cx="2046349" cy="1227809"/>
      </dsp:txXfrm>
    </dsp:sp>
    <dsp:sp modelId="{0795E257-7BC5-446B-8446-6FD7DB98A70C}">
      <dsp:nvSpPr>
        <dsp:cNvPr id="0" name=""/>
        <dsp:cNvSpPr/>
      </dsp:nvSpPr>
      <dsp:spPr>
        <a:xfrm>
          <a:off x="2046459" y="2594215"/>
          <a:ext cx="440060" cy="91440"/>
        </a:xfrm>
        <a:custGeom>
          <a:avLst/>
          <a:gdLst/>
          <a:ahLst/>
          <a:cxnLst/>
          <a:rect l="0" t="0" r="0" b="0"/>
          <a:pathLst>
            <a:path>
              <a:moveTo>
                <a:pt x="0" y="45720"/>
              </a:moveTo>
              <a:lnTo>
                <a:pt x="440060" y="45720"/>
              </a:lnTo>
            </a:path>
          </a:pathLst>
        </a:custGeom>
        <a:noFill/>
        <a:ln w="6350" cap="flat" cmpd="sng" algn="in">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54723" y="2637581"/>
        <a:ext cx="23533" cy="4706"/>
      </dsp:txXfrm>
    </dsp:sp>
    <dsp:sp modelId="{AB83C58C-5514-4C0F-A934-71CB4374CC07}">
      <dsp:nvSpPr>
        <dsp:cNvPr id="0" name=""/>
        <dsp:cNvSpPr/>
      </dsp:nvSpPr>
      <dsp:spPr>
        <a:xfrm>
          <a:off x="1910" y="2026030"/>
          <a:ext cx="2046349" cy="1227809"/>
        </a:xfrm>
        <a:prstGeom prst="rect">
          <a:avLst/>
        </a:prstGeom>
        <a:solidFill>
          <a:schemeClr val="accent6">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0273" tIns="105254" rIns="100273" bIns="105254" numCol="1" spcCol="1270" anchor="ctr" anchorCtr="0">
          <a:noAutofit/>
        </a:bodyPr>
        <a:lstStyle/>
        <a:p>
          <a:pPr marL="0" lvl="0" indent="0" algn="ctr" defTabSz="844550">
            <a:lnSpc>
              <a:spcPct val="90000"/>
            </a:lnSpc>
            <a:spcBef>
              <a:spcPct val="0"/>
            </a:spcBef>
            <a:spcAft>
              <a:spcPct val="35000"/>
            </a:spcAft>
            <a:buNone/>
          </a:pPr>
          <a:r>
            <a:rPr lang="en-IN" sz="1900" b="1" kern="1200" dirty="0"/>
            <a:t>● Use LSTM to predict the next word of the sentence. </a:t>
          </a:r>
          <a:endParaRPr lang="en-US" sz="1900" b="1" kern="1200" dirty="0"/>
        </a:p>
      </dsp:txBody>
      <dsp:txXfrm>
        <a:off x="1910" y="2026030"/>
        <a:ext cx="2046349" cy="1227809"/>
      </dsp:txXfrm>
    </dsp:sp>
    <dsp:sp modelId="{34B2EF79-5191-45B1-A70B-98C642B0A084}">
      <dsp:nvSpPr>
        <dsp:cNvPr id="0" name=""/>
        <dsp:cNvSpPr/>
      </dsp:nvSpPr>
      <dsp:spPr>
        <a:xfrm>
          <a:off x="4563469" y="2594215"/>
          <a:ext cx="440060" cy="91440"/>
        </a:xfrm>
        <a:custGeom>
          <a:avLst/>
          <a:gdLst/>
          <a:ahLst/>
          <a:cxnLst/>
          <a:rect l="0" t="0" r="0" b="0"/>
          <a:pathLst>
            <a:path>
              <a:moveTo>
                <a:pt x="0" y="45720"/>
              </a:moveTo>
              <a:lnTo>
                <a:pt x="440060" y="45720"/>
              </a:lnTo>
            </a:path>
          </a:pathLst>
        </a:custGeom>
        <a:noFill/>
        <a:ln w="6350" cap="flat" cmpd="sng" algn="in">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771733" y="2637581"/>
        <a:ext cx="23533" cy="4706"/>
      </dsp:txXfrm>
    </dsp:sp>
    <dsp:sp modelId="{77BEB08E-62C2-4270-9686-112AF0C70F87}">
      <dsp:nvSpPr>
        <dsp:cNvPr id="0" name=""/>
        <dsp:cNvSpPr/>
      </dsp:nvSpPr>
      <dsp:spPr>
        <a:xfrm>
          <a:off x="2518920" y="2026030"/>
          <a:ext cx="2046349" cy="1227809"/>
        </a:xfrm>
        <a:prstGeom prst="rect">
          <a:avLst/>
        </a:prstGeom>
        <a:solidFill>
          <a:schemeClr val="accent2">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0273" tIns="105254" rIns="100273" bIns="105254" numCol="1" spcCol="1270" anchor="ctr" anchorCtr="0">
          <a:noAutofit/>
        </a:bodyPr>
        <a:lstStyle/>
        <a:p>
          <a:pPr marL="0" lvl="0" indent="0" algn="ctr" defTabSz="844550">
            <a:lnSpc>
              <a:spcPct val="90000"/>
            </a:lnSpc>
            <a:spcBef>
              <a:spcPct val="0"/>
            </a:spcBef>
            <a:spcAft>
              <a:spcPct val="35000"/>
            </a:spcAft>
            <a:buNone/>
          </a:pPr>
          <a:r>
            <a:rPr lang="en-IN" sz="1900" b="1" kern="1200" dirty="0"/>
            <a:t>● Make a Data Generator .</a:t>
          </a:r>
          <a:endParaRPr lang="en-US" sz="1900" b="1" kern="1200" dirty="0"/>
        </a:p>
      </dsp:txBody>
      <dsp:txXfrm>
        <a:off x="2518920" y="2026030"/>
        <a:ext cx="2046349" cy="1227809"/>
      </dsp:txXfrm>
    </dsp:sp>
    <dsp:sp modelId="{312128D8-E61B-468E-B2D1-17D510BD3FDC}">
      <dsp:nvSpPr>
        <dsp:cNvPr id="0" name=""/>
        <dsp:cNvSpPr/>
      </dsp:nvSpPr>
      <dsp:spPr>
        <a:xfrm>
          <a:off x="5035930" y="2026030"/>
          <a:ext cx="2046349" cy="1227809"/>
        </a:xfrm>
        <a:prstGeom prst="rect">
          <a:avLst/>
        </a:prstGeom>
        <a:solidFill>
          <a:schemeClr val="accent3">
            <a:hueOff val="0"/>
            <a:satOff val="0"/>
            <a:lumOff val="0"/>
            <a:alphaOff val="0"/>
          </a:schemeClr>
        </a:solidFill>
        <a:ln w="34925"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0273" tIns="105254" rIns="100273" bIns="105254" numCol="1" spcCol="1270" anchor="ctr" anchorCtr="0">
          <a:noAutofit/>
        </a:bodyPr>
        <a:lstStyle/>
        <a:p>
          <a:pPr marL="0" lvl="0" indent="0" algn="ctr" defTabSz="844550">
            <a:lnSpc>
              <a:spcPct val="90000"/>
            </a:lnSpc>
            <a:spcBef>
              <a:spcPct val="0"/>
            </a:spcBef>
            <a:spcAft>
              <a:spcPct val="35000"/>
            </a:spcAft>
            <a:buNone/>
          </a:pPr>
          <a:r>
            <a:rPr lang="en-IN" sz="1900" b="1" kern="1200" dirty="0"/>
            <a:t>● View Images with caption.</a:t>
          </a:r>
          <a:endParaRPr lang="en-US" sz="1900" b="1" kern="1200" dirty="0"/>
        </a:p>
      </dsp:txBody>
      <dsp:txXfrm>
        <a:off x="5035930" y="2026030"/>
        <a:ext cx="2046349" cy="1227809"/>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E7939FE9-0B2E-4997-BA24-44FF9669BA9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D0AE1028-7A43-40A3-A2EC-124FFB073D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B3D3C9-ED3E-4430-A8CA-03711A676035}" type="datetimeFigureOut">
              <a:rPr lang="en-US" smtClean="0"/>
              <a:pPr/>
              <a:t>7/8/2026</a:t>
            </a:fld>
            <a:endParaRPr lang="en-US" dirty="0"/>
          </a:p>
        </p:txBody>
      </p:sp>
      <p:sp>
        <p:nvSpPr>
          <p:cNvPr id="4" name="Footer Placeholder 3">
            <a:extLst>
              <a:ext uri="{FF2B5EF4-FFF2-40B4-BE49-F238E27FC236}">
                <a16:creationId xmlns:a16="http://schemas.microsoft.com/office/drawing/2014/main" xmlns="" id="{8ACACB66-3B0A-415A-9449-9278044DA54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F9B7EC22-6F70-469D-B720-84BF796C51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A94CC5C-2831-4FAC-8076-6410B257E0B7}" type="slidenum">
              <a:rPr lang="en-US" smtClean="0"/>
              <a:pPr/>
              <a:t>‹#›</a:t>
            </a:fld>
            <a:endParaRPr lang="en-US" dirty="0"/>
          </a:p>
        </p:txBody>
      </p:sp>
    </p:spTree>
    <p:extLst>
      <p:ext uri="{BB962C8B-B14F-4D97-AF65-F5344CB8AC3E}">
        <p14:creationId xmlns:p14="http://schemas.microsoft.com/office/powerpoint/2010/main" xmlns="" val="9509838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E67E2B-6215-4DB6-B113-75ACD1123374}" type="datetimeFigureOut">
              <a:rPr lang="en-US" smtClean="0"/>
              <a:pPr/>
              <a:t>7/8/2026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BC8106-034A-47C1-ADA6-0A1F9E0E7474}" type="slidenum">
              <a:rPr lang="en-US" smtClean="0"/>
              <a:pPr/>
              <a:t>‹#›</a:t>
            </a:fld>
            <a:endParaRPr lang="en-US" dirty="0"/>
          </a:p>
        </p:txBody>
      </p:sp>
    </p:spTree>
    <p:extLst>
      <p:ext uri="{BB962C8B-B14F-4D97-AF65-F5344CB8AC3E}">
        <p14:creationId xmlns:p14="http://schemas.microsoft.com/office/powerpoint/2010/main" xmlns="" val="2880787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BC8106-034A-47C1-ADA6-0A1F9E0E7474}" type="slidenum">
              <a:rPr lang="en-US" smtClean="0"/>
              <a:pPr/>
              <a:t>1</a:t>
            </a:fld>
            <a:endParaRPr lang="en-US" dirty="0"/>
          </a:p>
        </p:txBody>
      </p:sp>
    </p:spTree>
    <p:extLst>
      <p:ext uri="{BB962C8B-B14F-4D97-AF65-F5344CB8AC3E}">
        <p14:creationId xmlns:p14="http://schemas.microsoft.com/office/powerpoint/2010/main" xmlns="" val="30958595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BC8106-034A-47C1-ADA6-0A1F9E0E7474}" type="slidenum">
              <a:rPr lang="en-US" smtClean="0"/>
              <a:pPr/>
              <a:t>2</a:t>
            </a:fld>
            <a:endParaRPr lang="en-US" dirty="0"/>
          </a:p>
        </p:txBody>
      </p:sp>
    </p:spTree>
    <p:extLst>
      <p:ext uri="{BB962C8B-B14F-4D97-AF65-F5344CB8AC3E}">
        <p14:creationId xmlns:p14="http://schemas.microsoft.com/office/powerpoint/2010/main" xmlns="" val="3329823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BC8106-034A-47C1-ADA6-0A1F9E0E7474}" type="slidenum">
              <a:rPr lang="en-US" smtClean="0"/>
              <a:pPr/>
              <a:t>3</a:t>
            </a:fld>
            <a:endParaRPr lang="en-US" dirty="0"/>
          </a:p>
        </p:txBody>
      </p:sp>
    </p:spTree>
    <p:extLst>
      <p:ext uri="{BB962C8B-B14F-4D97-AF65-F5344CB8AC3E}">
        <p14:creationId xmlns:p14="http://schemas.microsoft.com/office/powerpoint/2010/main" xmlns="" val="3673068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BC8106-034A-47C1-ADA6-0A1F9E0E7474}" type="slidenum">
              <a:rPr lang="en-US" smtClean="0"/>
              <a:pPr/>
              <a:t>11</a:t>
            </a:fld>
            <a:endParaRPr lang="en-US" dirty="0"/>
          </a:p>
        </p:txBody>
      </p:sp>
    </p:spTree>
    <p:extLst>
      <p:ext uri="{BB962C8B-B14F-4D97-AF65-F5344CB8AC3E}">
        <p14:creationId xmlns:p14="http://schemas.microsoft.com/office/powerpoint/2010/main" xmlns="" val="4974089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smtClean="0"/>
              <a:pPr/>
              <a:t>7/8/2026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smtClean="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xmlns="" val="37796242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xmlns="" val="1150405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smtClean="0"/>
              <a:pPr/>
              <a:t>7/8/2026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smtClean="0"/>
              <a:pPr/>
              <a:t>‹#›</a:t>
            </a:fld>
            <a:endParaRPr lang="en-US" dirty="0"/>
          </a:p>
        </p:txBody>
      </p:sp>
      <p:sp>
        <p:nvSpPr>
          <p:cNvPr id="7" name="Freeform 6"/>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xmlns="" val="66594190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smtClean="0"/>
              <a:pPr/>
              <a:t>7/8/2026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xmlns="" val="1332195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smtClean="0"/>
              <a:pPr/>
              <a:t>7/8/2026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xmlns="" val="1269596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smtClean="0"/>
              <a:pPr/>
              <a:t>7/8/2026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xmlns="" val="592791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smtClean="0"/>
              <a:pPr/>
              <a:t>7/8/2026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xmlns="" val="809832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smtClean="0"/>
              <a:pPr/>
              <a:t>7/8/2026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smtClean="0"/>
              <a:pPr/>
              <a:t>‹#›</a:t>
            </a:fld>
            <a:endParaRPr lang="en-US" dirty="0"/>
          </a:p>
        </p:txBody>
      </p:sp>
      <p:sp>
        <p:nvSpPr>
          <p:cNvPr id="9" name="Rectangle 8"/>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xmlns="" val="1684512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smtClean="0"/>
              <a:pPr/>
              <a:t>7/8/2026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smtClean="0"/>
              <a:pPr/>
              <a:t>‹#›</a:t>
            </a:fld>
            <a:endParaRPr lang="en-US" dirty="0"/>
          </a:p>
        </p:txBody>
      </p:sp>
      <p:sp>
        <p:nvSpPr>
          <p:cNvPr id="9" name="Rectangle 8"/>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xmlns="" val="35639386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xmlns="" val="4051425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pPr/>
              <a:t>‹#›</a:t>
            </a:fld>
            <a:endParaRPr lang="en-US" dirty="0"/>
          </a:p>
        </p:txBody>
      </p:sp>
    </p:spTree>
    <p:extLst>
      <p:ext uri="{BB962C8B-B14F-4D97-AF65-F5344CB8AC3E}">
        <p14:creationId xmlns:p14="http://schemas.microsoft.com/office/powerpoint/2010/main" xmlns="" val="3845499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smtClean="0"/>
              <a:pPr/>
              <a:t>7/8/2026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smtClean="0"/>
              <a:pPr/>
              <a:t>‹#›</a:t>
            </a:fld>
            <a:endParaRPr lang="en-US" dirty="0"/>
          </a:p>
        </p:txBody>
      </p:sp>
      <p:sp>
        <p:nvSpPr>
          <p:cNvPr id="9" name="Rectangle 8"/>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xmlns="" val="7015156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xmlns="" id="{B709ADC9-6EAF-4268-9415-1ED5ECFA22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9" name="Picture 48" descr="A close-up of a network&#10;&#10;Description automatically generated">
            <a:extLst>
              <a:ext uri="{FF2B5EF4-FFF2-40B4-BE49-F238E27FC236}">
                <a16:creationId xmlns:a16="http://schemas.microsoft.com/office/drawing/2014/main" xmlns="" id="{B79EEC5F-F6AE-BB55-AF31-AC7EF84C17A3}"/>
              </a:ext>
            </a:extLst>
          </p:cNvPr>
          <p:cNvPicPr>
            <a:picLocks noChangeAspect="1"/>
          </p:cNvPicPr>
          <p:nvPr/>
        </p:nvPicPr>
        <p:blipFill rotWithShape="1">
          <a:blip r:embed="rId3">
            <a:alphaModFix amt="40000"/>
          </a:blip>
          <a:srcRect t="29687"/>
          <a:stretch/>
        </p:blipFill>
        <p:spPr>
          <a:xfrm>
            <a:off x="20" y="10"/>
            <a:ext cx="12191980" cy="6857990"/>
          </a:xfrm>
          <a:prstGeom prst="rect">
            <a:avLst/>
          </a:prstGeom>
        </p:spPr>
      </p:pic>
      <p:sp>
        <p:nvSpPr>
          <p:cNvPr id="2" name="Title 1">
            <a:extLst>
              <a:ext uri="{FF2B5EF4-FFF2-40B4-BE49-F238E27FC236}">
                <a16:creationId xmlns:a16="http://schemas.microsoft.com/office/drawing/2014/main" xmlns="" id="{A5C93519-6B29-1346-9FCB-0835B80531A4}"/>
              </a:ext>
            </a:extLst>
          </p:cNvPr>
          <p:cNvSpPr>
            <a:spLocks noGrp="1"/>
          </p:cNvSpPr>
          <p:nvPr>
            <p:ph type="ctrTitle"/>
          </p:nvPr>
        </p:nvSpPr>
        <p:spPr>
          <a:xfrm>
            <a:off x="1915128" y="1788454"/>
            <a:ext cx="8361229" cy="2098226"/>
          </a:xfrm>
        </p:spPr>
        <p:txBody>
          <a:bodyPr>
            <a:normAutofit/>
          </a:bodyPr>
          <a:lstStyle/>
          <a:p>
            <a:r>
              <a:rPr lang="en-IN" sz="4500" b="1" dirty="0"/>
              <a:t>IMAGE CAPTION GENERATOR</a:t>
            </a:r>
            <a:r>
              <a:rPr lang="en-IN" sz="4500" dirty="0"/>
              <a:t>-</a:t>
            </a:r>
            <a:br>
              <a:rPr lang="en-IN" sz="4500" dirty="0"/>
            </a:br>
            <a:r>
              <a:rPr lang="en-IN" sz="4500" i="1" dirty="0"/>
              <a:t>exploring Worlds through Words and Pictures</a:t>
            </a:r>
            <a:endParaRPr lang="en-US" sz="4500" dirty="0"/>
          </a:p>
        </p:txBody>
      </p:sp>
      <p:sp>
        <p:nvSpPr>
          <p:cNvPr id="4" name="Subtitle 3">
            <a:extLst>
              <a:ext uri="{FF2B5EF4-FFF2-40B4-BE49-F238E27FC236}">
                <a16:creationId xmlns:a16="http://schemas.microsoft.com/office/drawing/2014/main" xmlns="" id="{6E661E49-0788-40C2-A5B6-638ADED71159}"/>
              </a:ext>
            </a:extLst>
          </p:cNvPr>
          <p:cNvSpPr>
            <a:spLocks noGrp="1"/>
          </p:cNvSpPr>
          <p:nvPr>
            <p:ph type="subTitle" idx="1"/>
          </p:nvPr>
        </p:nvSpPr>
        <p:spPr>
          <a:xfrm>
            <a:off x="2679906" y="3956279"/>
            <a:ext cx="6831673" cy="1086237"/>
          </a:xfrm>
        </p:spPr>
        <p:txBody>
          <a:bodyPr>
            <a:normAutofit/>
          </a:bodyPr>
          <a:lstStyle/>
          <a:p>
            <a:pPr>
              <a:lnSpc>
                <a:spcPct val="102000"/>
              </a:lnSpc>
            </a:pPr>
            <a:r>
              <a:rPr lang="en-US" sz="2100"/>
              <a:t>Team members:</a:t>
            </a:r>
          </a:p>
          <a:p>
            <a:pPr>
              <a:lnSpc>
                <a:spcPct val="102000"/>
              </a:lnSpc>
            </a:pPr>
            <a:r>
              <a:rPr lang="en-US" sz="2100"/>
              <a:t>Shreya Das Gupta: E22BCAU0148</a:t>
            </a:r>
          </a:p>
          <a:p>
            <a:pPr>
              <a:lnSpc>
                <a:spcPct val="102000"/>
              </a:lnSpc>
            </a:pPr>
            <a:r>
              <a:rPr lang="en-US" sz="2100"/>
              <a:t>Steena Susan Abraham: E22BCAU0133</a:t>
            </a:r>
            <a:endParaRPr lang="en-IN" sz="2100"/>
          </a:p>
          <a:p>
            <a:pPr>
              <a:lnSpc>
                <a:spcPct val="102000"/>
              </a:lnSpc>
              <a:spcAft>
                <a:spcPts val="600"/>
              </a:spcAft>
            </a:pPr>
            <a:endParaRPr lang="en-US" sz="2100"/>
          </a:p>
        </p:txBody>
      </p:sp>
    </p:spTree>
    <p:extLst>
      <p:ext uri="{BB962C8B-B14F-4D97-AF65-F5344CB8AC3E}">
        <p14:creationId xmlns:p14="http://schemas.microsoft.com/office/powerpoint/2010/main" xmlns="" val="154658038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700"/>
                                        <p:tgtEl>
                                          <p:spTgt spid="4">
                                            <p:txEl>
                                              <p:pRg st="0" end="0"/>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4">
                                            <p:txEl>
                                              <p:pRg st="1" end="1"/>
                                            </p:txEl>
                                          </p:spTgt>
                                        </p:tgtEl>
                                        <p:attrNameLst>
                                          <p:attrName>style.visibility</p:attrName>
                                        </p:attrNameLst>
                                      </p:cBhvr>
                                      <p:to>
                                        <p:strVal val="visible"/>
                                      </p:to>
                                    </p:set>
                                    <p:animEffect transition="in" filter="fade">
                                      <p:cBhvr>
                                        <p:cTn id="13" dur="700"/>
                                        <p:tgtEl>
                                          <p:spTgt spid="4">
                                            <p:txEl>
                                              <p:pRg st="1" end="1"/>
                                            </p:txEl>
                                          </p:spTgt>
                                        </p:tgtEl>
                                      </p:cBhvr>
                                    </p:animEffect>
                                  </p:childTnLst>
                                </p:cTn>
                              </p:par>
                              <p:par>
                                <p:cTn id="14" presetID="10" presetClass="entr" presetSubtype="0" fill="hold" grpId="0" nodeType="withEffect">
                                  <p:stCondLst>
                                    <p:cond delay="1500"/>
                                  </p:stCondLst>
                                  <p:iterate>
                                    <p:tmPct val="10000"/>
                                  </p:iterate>
                                  <p:childTnLst>
                                    <p:set>
                                      <p:cBhvr>
                                        <p:cTn id="15" dur="1" fill="hold">
                                          <p:stCondLst>
                                            <p:cond delay="0"/>
                                          </p:stCondLst>
                                        </p:cTn>
                                        <p:tgtEl>
                                          <p:spTgt spid="4">
                                            <p:txEl>
                                              <p:pRg st="2" end="2"/>
                                            </p:txEl>
                                          </p:spTgt>
                                        </p:tgtEl>
                                        <p:attrNameLst>
                                          <p:attrName>style.visibility</p:attrName>
                                        </p:attrNameLst>
                                      </p:cBhvr>
                                      <p:to>
                                        <p:strVal val="visible"/>
                                      </p:to>
                                    </p:set>
                                    <p:animEffect transition="in" filter="fade">
                                      <p:cBhvr>
                                        <p:cTn id="16" dur="7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3" name="Rectangle 102">
            <a:extLst>
              <a:ext uri="{FF2B5EF4-FFF2-40B4-BE49-F238E27FC236}">
                <a16:creationId xmlns:a16="http://schemas.microsoft.com/office/drawing/2014/main" xmlns="" id="{0E807223-DF88-4D6D-970E-08919E5E02E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useBgFill="1">
        <p:nvSpPr>
          <p:cNvPr id="102" name="Rectangle 101">
            <a:extLst>
              <a:ext uri="{FF2B5EF4-FFF2-40B4-BE49-F238E27FC236}">
                <a16:creationId xmlns:a16="http://schemas.microsoft.com/office/drawing/2014/main" xmlns="" id="{C96282C0-351C-48EE-A89D-D662C5DB250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23F6D5E8-15CF-4755-910B-1B5A1E777357}"/>
              </a:ext>
            </a:extLst>
          </p:cNvPr>
          <p:cNvSpPr>
            <a:spLocks noGrp="1"/>
          </p:cNvSpPr>
          <p:nvPr>
            <p:ph type="title"/>
          </p:nvPr>
        </p:nvSpPr>
        <p:spPr>
          <a:xfrm>
            <a:off x="5100824" y="685800"/>
            <a:ext cx="6176776" cy="1485900"/>
          </a:xfrm>
        </p:spPr>
        <p:txBody>
          <a:bodyPr vert="horz" lIns="91440" tIns="45720" rIns="91440" bIns="45720" rtlCol="0" anchor="t">
            <a:normAutofit/>
          </a:bodyPr>
          <a:lstStyle/>
          <a:p>
            <a:r>
              <a:rPr lang="en-US" dirty="0"/>
              <a:t>CONTENTS</a:t>
            </a:r>
          </a:p>
        </p:txBody>
      </p:sp>
      <p:pic>
        <p:nvPicPr>
          <p:cNvPr id="105" name="Picture 104" descr="Pen placed on top of a signature line">
            <a:extLst>
              <a:ext uri="{FF2B5EF4-FFF2-40B4-BE49-F238E27FC236}">
                <a16:creationId xmlns:a16="http://schemas.microsoft.com/office/drawing/2014/main" xmlns="" id="{B66C37C3-D10C-6B6F-03D6-EEBE5424B006}"/>
              </a:ext>
            </a:extLst>
          </p:cNvPr>
          <p:cNvPicPr>
            <a:picLocks noChangeAspect="1"/>
          </p:cNvPicPr>
          <p:nvPr/>
        </p:nvPicPr>
        <p:blipFill rotWithShape="1">
          <a:blip r:embed="rId3"/>
          <a:srcRect l="53663" r="3768" b="-1"/>
          <a:stretch/>
        </p:blipFill>
        <p:spPr>
          <a:xfrm>
            <a:off x="-1" y="10"/>
            <a:ext cx="4373546" cy="6857990"/>
          </a:xfrm>
          <a:prstGeom prst="rect">
            <a:avLst/>
          </a:prstGeom>
        </p:spPr>
      </p:pic>
      <p:sp>
        <p:nvSpPr>
          <p:cNvPr id="104" name="Rectangle 103">
            <a:extLst>
              <a:ext uri="{FF2B5EF4-FFF2-40B4-BE49-F238E27FC236}">
                <a16:creationId xmlns:a16="http://schemas.microsoft.com/office/drawing/2014/main" xmlns="" id="{1B35EC73-2F87-44A7-B231-910536590D1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37354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106" name="Content Placeholder 3">
            <a:extLst>
              <a:ext uri="{FF2B5EF4-FFF2-40B4-BE49-F238E27FC236}">
                <a16:creationId xmlns:a16="http://schemas.microsoft.com/office/drawing/2014/main" xmlns="" id="{10FE9841-F5EB-8CE1-C736-A75F2728414A}"/>
              </a:ext>
            </a:extLst>
          </p:cNvPr>
          <p:cNvSpPr>
            <a:spLocks noGrp="1"/>
          </p:cNvSpPr>
          <p:nvPr>
            <p:ph sz="half" idx="2"/>
          </p:nvPr>
        </p:nvSpPr>
        <p:spPr>
          <a:xfrm>
            <a:off x="5100824" y="2286000"/>
            <a:ext cx="6176776" cy="3581400"/>
          </a:xfrm>
        </p:spPr>
        <p:txBody>
          <a:bodyPr vert="horz" lIns="91440" tIns="45720" rIns="91440" bIns="45720" rtlCol="0">
            <a:normAutofit/>
          </a:bodyPr>
          <a:lstStyle/>
          <a:p>
            <a:r>
              <a:rPr lang="en-US" dirty="0"/>
              <a:t>INTRODUCTION</a:t>
            </a:r>
          </a:p>
          <a:p>
            <a:r>
              <a:rPr lang="en-US" dirty="0"/>
              <a:t>PROBLEM STATEMENT</a:t>
            </a:r>
          </a:p>
          <a:p>
            <a:r>
              <a:rPr lang="en-US" dirty="0"/>
              <a:t>METHODS USED</a:t>
            </a:r>
          </a:p>
          <a:p>
            <a:r>
              <a:rPr lang="en-US" dirty="0"/>
              <a:t>DATASET</a:t>
            </a:r>
          </a:p>
          <a:p>
            <a:r>
              <a:rPr lang="en-US" dirty="0"/>
              <a:t>METHODS TO OD THIS</a:t>
            </a:r>
          </a:p>
          <a:p>
            <a:r>
              <a:rPr lang="en-US" dirty="0"/>
              <a:t>CONCLUSION</a:t>
            </a:r>
          </a:p>
          <a:p>
            <a:endParaRPr lang="en-US" dirty="0"/>
          </a:p>
        </p:txBody>
      </p:sp>
    </p:spTree>
    <p:extLst>
      <p:ext uri="{BB962C8B-B14F-4D97-AF65-F5344CB8AC3E}">
        <p14:creationId xmlns:p14="http://schemas.microsoft.com/office/powerpoint/2010/main" xmlns="" val="107679821"/>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xmlns="" id="{961D8973-EAA9-459A-AF59-BBB4233D6C7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5">
            <a:extLst>
              <a:ext uri="{FF2B5EF4-FFF2-40B4-BE49-F238E27FC236}">
                <a16:creationId xmlns:a16="http://schemas.microsoft.com/office/drawing/2014/main" xmlns="" id="{C6385F9C-BA79-C883-7743-2FAAE1A46B8D}"/>
              </a:ext>
            </a:extLst>
          </p:cNvPr>
          <p:cNvSpPr>
            <a:spLocks noGrp="1"/>
          </p:cNvSpPr>
          <p:nvPr>
            <p:ph type="title"/>
          </p:nvPr>
        </p:nvSpPr>
        <p:spPr>
          <a:xfrm>
            <a:off x="784743" y="685800"/>
            <a:ext cx="5793475" cy="1485900"/>
          </a:xfrm>
        </p:spPr>
        <p:txBody>
          <a:bodyPr vert="horz" lIns="91440" tIns="45720" rIns="91440" bIns="45720" rtlCol="0" anchor="t">
            <a:normAutofit/>
          </a:bodyPr>
          <a:lstStyle/>
          <a:p>
            <a:r>
              <a:rPr lang="en-US"/>
              <a:t>INTRODUCTION</a:t>
            </a:r>
          </a:p>
        </p:txBody>
      </p:sp>
      <p:sp>
        <p:nvSpPr>
          <p:cNvPr id="7" name="TextBox 6">
            <a:extLst>
              <a:ext uri="{FF2B5EF4-FFF2-40B4-BE49-F238E27FC236}">
                <a16:creationId xmlns:a16="http://schemas.microsoft.com/office/drawing/2014/main" xmlns="" id="{B7B7E863-3C9B-D4F5-5CC1-EF15C8B139FE}"/>
              </a:ext>
            </a:extLst>
          </p:cNvPr>
          <p:cNvSpPr txBox="1"/>
          <p:nvPr/>
        </p:nvSpPr>
        <p:spPr>
          <a:xfrm>
            <a:off x="784743" y="2286000"/>
            <a:ext cx="5793475" cy="3581400"/>
          </a:xfrm>
          <a:prstGeom prst="rect">
            <a:avLst/>
          </a:prstGeom>
        </p:spPr>
        <p:txBody>
          <a:bodyPr vert="horz" lIns="91440" tIns="45720" rIns="91440" bIns="45720" rtlCol="0">
            <a:normAutofit/>
          </a:bodyPr>
          <a:lstStyle/>
          <a:p>
            <a:pPr marL="384048" indent="-384048" defTabSz="914400">
              <a:lnSpc>
                <a:spcPct val="94000"/>
              </a:lnSpc>
              <a:spcAft>
                <a:spcPts val="200"/>
              </a:spcAft>
              <a:buFont typeface="Franklin Gothic Book" panose="020B0503020102020204" pitchFamily="34" charset="0"/>
              <a:buChar char="•"/>
            </a:pPr>
            <a:r>
              <a:rPr lang="en-US" dirty="0">
                <a:solidFill>
                  <a:schemeClr val="tx2"/>
                </a:solidFill>
              </a:rPr>
              <a:t>Image Caption Generator is used to recognize the context of an image and to generate natural sentence description for given image. </a:t>
            </a:r>
          </a:p>
          <a:p>
            <a:pPr marL="384048" indent="-384048" defTabSz="914400">
              <a:lnSpc>
                <a:spcPct val="94000"/>
              </a:lnSpc>
              <a:spcAft>
                <a:spcPts val="200"/>
              </a:spcAft>
              <a:buFont typeface="Franklin Gothic Book" panose="020B0503020102020204" pitchFamily="34" charset="0"/>
            </a:pPr>
            <a:endParaRPr lang="en-US" dirty="0">
              <a:solidFill>
                <a:schemeClr val="tx2"/>
              </a:solidFill>
            </a:endParaRPr>
          </a:p>
          <a:p>
            <a:pPr marL="384048" indent="-384048" defTabSz="914400">
              <a:lnSpc>
                <a:spcPct val="94000"/>
              </a:lnSpc>
              <a:spcAft>
                <a:spcPts val="200"/>
              </a:spcAft>
              <a:buFont typeface="Franklin Gothic Book" panose="020B0503020102020204" pitchFamily="34" charset="0"/>
              <a:buChar char="•"/>
            </a:pPr>
            <a:r>
              <a:rPr lang="en-US" dirty="0">
                <a:solidFill>
                  <a:schemeClr val="tx2"/>
                </a:solidFill>
              </a:rPr>
              <a:t>It involves the Visual Context understanding in Computer Vision and the sentence generation in Natural Language Processing. </a:t>
            </a:r>
          </a:p>
          <a:p>
            <a:pPr marL="384048" indent="-384048" defTabSz="914400">
              <a:lnSpc>
                <a:spcPct val="94000"/>
              </a:lnSpc>
              <a:spcAft>
                <a:spcPts val="200"/>
              </a:spcAft>
              <a:buFont typeface="Franklin Gothic Book" panose="020B0503020102020204" pitchFamily="34" charset="0"/>
            </a:pPr>
            <a:endParaRPr lang="en-US" dirty="0">
              <a:solidFill>
                <a:schemeClr val="tx2"/>
              </a:solidFill>
            </a:endParaRPr>
          </a:p>
          <a:p>
            <a:pPr marL="384048" indent="-384048" defTabSz="914400">
              <a:lnSpc>
                <a:spcPct val="94000"/>
              </a:lnSpc>
              <a:spcAft>
                <a:spcPts val="200"/>
              </a:spcAft>
              <a:buFont typeface="Franklin Gothic Book" panose="020B0503020102020204" pitchFamily="34" charset="0"/>
              <a:buChar char="•"/>
            </a:pPr>
            <a:r>
              <a:rPr lang="en-US" dirty="0">
                <a:solidFill>
                  <a:schemeClr val="tx2"/>
                </a:solidFill>
              </a:rPr>
              <a:t> In this the input to model is an image and the output of the model is caption generated in natural language processing</a:t>
            </a:r>
          </a:p>
        </p:txBody>
      </p:sp>
      <p:sp>
        <p:nvSpPr>
          <p:cNvPr id="28" name="Rectangle 27">
            <a:extLst>
              <a:ext uri="{FF2B5EF4-FFF2-40B4-BE49-F238E27FC236}">
                <a16:creationId xmlns:a16="http://schemas.microsoft.com/office/drawing/2014/main" xmlns="" id="{FBEA8A33-C0D0-416D-8359-724B8828C7C3}"/>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383661" y="0"/>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22" name="Picture 21" descr="Light bulb on green grass">
            <a:extLst>
              <a:ext uri="{FF2B5EF4-FFF2-40B4-BE49-F238E27FC236}">
                <a16:creationId xmlns:a16="http://schemas.microsoft.com/office/drawing/2014/main" xmlns="" id="{68417DD7-3DF8-1526-CB2D-AFC953EBC983}"/>
              </a:ext>
            </a:extLst>
          </p:cNvPr>
          <p:cNvPicPr>
            <a:picLocks noChangeAspect="1"/>
          </p:cNvPicPr>
          <p:nvPr/>
        </p:nvPicPr>
        <p:blipFill rotWithShape="1">
          <a:blip r:embed="rId3"/>
          <a:srcRect l="31349" r="24075" b="-1"/>
          <a:stretch/>
        </p:blipFill>
        <p:spPr>
          <a:xfrm>
            <a:off x="7612260" y="10"/>
            <a:ext cx="4579739" cy="6857990"/>
          </a:xfrm>
          <a:prstGeom prst="rect">
            <a:avLst/>
          </a:prstGeom>
        </p:spPr>
      </p:pic>
    </p:spTree>
    <p:extLst>
      <p:ext uri="{BB962C8B-B14F-4D97-AF65-F5344CB8AC3E}">
        <p14:creationId xmlns:p14="http://schemas.microsoft.com/office/powerpoint/2010/main" xmlns="" val="3745136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D17C288B-1053-C590-1502-8A166E70CA28}"/>
              </a:ext>
            </a:extLst>
          </p:cNvPr>
          <p:cNvPicPr>
            <a:picLocks noChangeAspect="1"/>
          </p:cNvPicPr>
          <p:nvPr/>
        </p:nvPicPr>
        <p:blipFill>
          <a:blip r:embed="rId2"/>
          <a:stretch>
            <a:fillRect/>
          </a:stretch>
        </p:blipFill>
        <p:spPr>
          <a:xfrm>
            <a:off x="6708291" y="1407664"/>
            <a:ext cx="5306479" cy="3616503"/>
          </a:xfrm>
          <a:prstGeom prst="rect">
            <a:avLst/>
          </a:prstGeom>
        </p:spPr>
      </p:pic>
      <p:sp>
        <p:nvSpPr>
          <p:cNvPr id="4" name="TextBox 3">
            <a:extLst>
              <a:ext uri="{FF2B5EF4-FFF2-40B4-BE49-F238E27FC236}">
                <a16:creationId xmlns:a16="http://schemas.microsoft.com/office/drawing/2014/main" xmlns="" id="{0527E2E8-73DE-CA0D-697A-9F8DF2C8C70B}"/>
              </a:ext>
            </a:extLst>
          </p:cNvPr>
          <p:cNvSpPr txBox="1"/>
          <p:nvPr/>
        </p:nvSpPr>
        <p:spPr>
          <a:xfrm>
            <a:off x="1056640" y="1849120"/>
            <a:ext cx="5486400" cy="2893100"/>
          </a:xfrm>
          <a:prstGeom prst="rect">
            <a:avLst/>
          </a:prstGeom>
          <a:noFill/>
        </p:spPr>
        <p:txBody>
          <a:bodyPr wrap="square" rtlCol="0">
            <a:spAutoFit/>
          </a:bodyPr>
          <a:lstStyle/>
          <a:p>
            <a:r>
              <a:rPr lang="en-US" sz="3200" dirty="0"/>
              <a:t>For example </a:t>
            </a:r>
          </a:p>
          <a:p>
            <a:endParaRPr lang="en-US" dirty="0"/>
          </a:p>
          <a:p>
            <a:endParaRPr lang="en-US" dirty="0"/>
          </a:p>
          <a:p>
            <a:endParaRPr lang="en-US" dirty="0"/>
          </a:p>
          <a:p>
            <a:r>
              <a:rPr lang="en-US" dirty="0"/>
              <a:t> </a:t>
            </a:r>
            <a:r>
              <a:rPr lang="en-US" sz="2400" dirty="0"/>
              <a:t>When an image is passed as an input to the model, it should be able to generate captions in natural language such as “ Two dogs are playing”.</a:t>
            </a:r>
            <a:endParaRPr lang="en-IN" sz="2400" dirty="0"/>
          </a:p>
        </p:txBody>
      </p:sp>
    </p:spTree>
    <p:extLst>
      <p:ext uri="{BB962C8B-B14F-4D97-AF65-F5344CB8AC3E}">
        <p14:creationId xmlns:p14="http://schemas.microsoft.com/office/powerpoint/2010/main" xmlns="" val="28138566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5" name="Picture 4" descr="Light bulb on yellow background with sketched light beams and cord">
            <a:extLst>
              <a:ext uri="{FF2B5EF4-FFF2-40B4-BE49-F238E27FC236}">
                <a16:creationId xmlns:a16="http://schemas.microsoft.com/office/drawing/2014/main" xmlns="" id="{94516336-5319-30C8-D56F-7088BF289A0D}"/>
              </a:ext>
            </a:extLst>
          </p:cNvPr>
          <p:cNvPicPr>
            <a:picLocks noChangeAspect="1"/>
          </p:cNvPicPr>
          <p:nvPr/>
        </p:nvPicPr>
        <p:blipFill rotWithShape="1">
          <a:blip r:embed="rId2"/>
          <a:srcRect t="8511" r="1" b="1"/>
          <a:stretch/>
        </p:blipFill>
        <p:spPr>
          <a:xfrm>
            <a:off x="-1" y="10"/>
            <a:ext cx="12188652" cy="6857990"/>
          </a:xfrm>
          <a:prstGeom prst="rect">
            <a:avLst/>
          </a:prstGeom>
        </p:spPr>
      </p:pic>
      <p:sp>
        <p:nvSpPr>
          <p:cNvPr id="20" name="Rectangle 19">
            <a:extLst>
              <a:ext uri="{FF2B5EF4-FFF2-40B4-BE49-F238E27FC236}">
                <a16:creationId xmlns:a16="http://schemas.microsoft.com/office/drawing/2014/main" xmlns="" id="{BC46CD03-D076-40A3-9AA4-2B7BB288B16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258" y="0"/>
            <a:ext cx="12192000" cy="6858000"/>
          </a:xfrm>
          <a:prstGeom prst="rect">
            <a:avLst/>
          </a:prstGeom>
          <a:gradFill flip="none" rotWithShape="1">
            <a:gsLst>
              <a:gs pos="30000">
                <a:schemeClr val="bg2">
                  <a:alpha val="75000"/>
                </a:schemeClr>
              </a:gs>
              <a:gs pos="100000">
                <a:schemeClr val="bg2"/>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C1B08356-26F1-9D14-758B-752A7F62C14E}"/>
              </a:ext>
            </a:extLst>
          </p:cNvPr>
          <p:cNvSpPr>
            <a:spLocks noGrp="1"/>
          </p:cNvSpPr>
          <p:nvPr>
            <p:ph type="title"/>
          </p:nvPr>
        </p:nvSpPr>
        <p:spPr>
          <a:xfrm>
            <a:off x="1371600" y="685800"/>
            <a:ext cx="9601200" cy="1485900"/>
          </a:xfrm>
        </p:spPr>
        <p:txBody>
          <a:bodyPr>
            <a:normAutofit/>
          </a:bodyPr>
          <a:lstStyle/>
          <a:p>
            <a:r>
              <a:rPr lang="en-AU" sz="3400" b="1" dirty="0"/>
              <a:t>PROBLEM STATEMENT</a:t>
            </a:r>
            <a:r>
              <a:rPr lang="en-AU" sz="3400" dirty="0"/>
              <a:t/>
            </a:r>
            <a:br>
              <a:rPr lang="en-AU" sz="3400" dirty="0"/>
            </a:br>
            <a:r>
              <a:rPr lang="en-AU" sz="3400" dirty="0"/>
              <a:t/>
            </a:r>
            <a:br>
              <a:rPr lang="en-AU" sz="3400" dirty="0"/>
            </a:br>
            <a:endParaRPr lang="en-IN" sz="3400" dirty="0"/>
          </a:p>
        </p:txBody>
      </p:sp>
      <p:sp>
        <p:nvSpPr>
          <p:cNvPr id="21" name="Rectangle 20">
            <a:extLst>
              <a:ext uri="{FF2B5EF4-FFF2-40B4-BE49-F238E27FC236}">
                <a16:creationId xmlns:a16="http://schemas.microsoft.com/office/drawing/2014/main" xmlns="" id="{88D28697-83F7-4C09-A9B2-6CAA5885562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Content Placeholder 2">
            <a:extLst>
              <a:ext uri="{FF2B5EF4-FFF2-40B4-BE49-F238E27FC236}">
                <a16:creationId xmlns:a16="http://schemas.microsoft.com/office/drawing/2014/main" xmlns="" id="{AB8095AF-50C5-D40C-04CD-D954584DEA61}"/>
              </a:ext>
            </a:extLst>
          </p:cNvPr>
          <p:cNvSpPr>
            <a:spLocks noGrp="1"/>
          </p:cNvSpPr>
          <p:nvPr>
            <p:ph idx="1"/>
          </p:nvPr>
        </p:nvSpPr>
        <p:spPr>
          <a:xfrm>
            <a:off x="1371600" y="2286000"/>
            <a:ext cx="9601200" cy="3581400"/>
          </a:xfrm>
        </p:spPr>
        <p:txBody>
          <a:bodyPr>
            <a:normAutofit/>
          </a:bodyPr>
          <a:lstStyle/>
          <a:p>
            <a:pPr marL="0" indent="0">
              <a:buNone/>
            </a:pPr>
            <a:r>
              <a:rPr lang="en-US" sz="1700" b="1" dirty="0"/>
              <a:t>Generating a Machine Learning model to predict the caption for a given image</a:t>
            </a:r>
          </a:p>
          <a:p>
            <a:endParaRPr lang="en-US" sz="1700" b="1" dirty="0"/>
          </a:p>
          <a:p>
            <a:pPr marL="285750" indent="-285750">
              <a:buFont typeface="Arial" panose="020B0604020202020204" pitchFamily="34" charset="0"/>
              <a:buChar char="•"/>
            </a:pPr>
            <a:r>
              <a:rPr lang="en-US" sz="1700" b="1" dirty="0"/>
              <a:t>You saw an image and your brain can easily tell what the image is about, but can a computer tell what the image is representing? </a:t>
            </a:r>
          </a:p>
          <a:p>
            <a:endParaRPr lang="en-US" sz="1700" b="1" dirty="0"/>
          </a:p>
          <a:p>
            <a:pPr marL="285750" indent="-285750">
              <a:buFont typeface="Arial" panose="020B0604020202020204" pitchFamily="34" charset="0"/>
              <a:buChar char="•"/>
            </a:pPr>
            <a:r>
              <a:rPr lang="en-US" sz="1700" b="1" dirty="0"/>
              <a:t>With the advancement in technology, availability of huge datasets and computer power, we can build models that can generate captions for an image. </a:t>
            </a:r>
          </a:p>
          <a:p>
            <a:endParaRPr lang="en-US" sz="1700" b="1" dirty="0"/>
          </a:p>
          <a:p>
            <a:pPr marL="285750" indent="-285750">
              <a:buFont typeface="Arial" panose="020B0604020202020204" pitchFamily="34" charset="0"/>
              <a:buChar char="•"/>
            </a:pPr>
            <a:r>
              <a:rPr lang="en-US" sz="1700" b="1" dirty="0"/>
              <a:t>This can be done using Convolutional Neural Networks (CNN) and Long short-term memory (LSTM) together.</a:t>
            </a:r>
            <a:endParaRPr lang="en-IN" sz="1700" b="1" dirty="0"/>
          </a:p>
          <a:p>
            <a:endParaRPr lang="en-IN" sz="1700" dirty="0"/>
          </a:p>
        </p:txBody>
      </p:sp>
    </p:spTree>
    <p:extLst>
      <p:ext uri="{BB962C8B-B14F-4D97-AF65-F5344CB8AC3E}">
        <p14:creationId xmlns:p14="http://schemas.microsoft.com/office/powerpoint/2010/main" xmlns="" val="198325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xmlns="" id="{9A204626-2220-4678-A939-FD94EA7B536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64C25BF2-9574-F8C1-48D7-88CADD7A1264}"/>
              </a:ext>
            </a:extLst>
          </p:cNvPr>
          <p:cNvSpPr>
            <a:spLocks noGrp="1"/>
          </p:cNvSpPr>
          <p:nvPr>
            <p:ph type="title"/>
          </p:nvPr>
        </p:nvSpPr>
        <p:spPr>
          <a:xfrm>
            <a:off x="784743" y="685800"/>
            <a:ext cx="5958837" cy="1485900"/>
          </a:xfrm>
        </p:spPr>
        <p:txBody>
          <a:bodyPr>
            <a:normAutofit/>
          </a:bodyPr>
          <a:lstStyle/>
          <a:p>
            <a:r>
              <a:rPr lang="en-AU"/>
              <a:t>METHODS USED</a:t>
            </a:r>
            <a:endParaRPr lang="en-IN" dirty="0"/>
          </a:p>
        </p:txBody>
      </p:sp>
      <p:sp>
        <p:nvSpPr>
          <p:cNvPr id="3" name="Content Placeholder 2">
            <a:extLst>
              <a:ext uri="{FF2B5EF4-FFF2-40B4-BE49-F238E27FC236}">
                <a16:creationId xmlns:a16="http://schemas.microsoft.com/office/drawing/2014/main" xmlns="" id="{AD3F3D0F-7557-8CB2-A0F8-ADCA00C2E39F}"/>
              </a:ext>
            </a:extLst>
          </p:cNvPr>
          <p:cNvSpPr>
            <a:spLocks noGrp="1"/>
          </p:cNvSpPr>
          <p:nvPr>
            <p:ph idx="1"/>
          </p:nvPr>
        </p:nvSpPr>
        <p:spPr>
          <a:xfrm>
            <a:off x="784743" y="2286000"/>
            <a:ext cx="5958837" cy="3581400"/>
          </a:xfrm>
        </p:spPr>
        <p:txBody>
          <a:bodyPr>
            <a:normAutofit/>
          </a:bodyPr>
          <a:lstStyle/>
          <a:p>
            <a:r>
              <a:rPr lang="en-US" sz="1400" b="1"/>
              <a:t>Convolutional Neural Networks (CNN) </a:t>
            </a:r>
            <a:r>
              <a:rPr lang="en-US" sz="1400"/>
              <a:t>–</a:t>
            </a:r>
          </a:p>
          <a:p>
            <a:r>
              <a:rPr lang="en-US" sz="1400"/>
              <a:t> A convolutional neural network (CNN or convnet) is one of the various artificial neural networks used for different applications and data types. A CNN is specifically used for image recognition and tasks involving pixel data processing. </a:t>
            </a:r>
          </a:p>
          <a:p>
            <a:r>
              <a:rPr lang="en-US" sz="1400"/>
              <a:t>The image features will be extracted using CNN</a:t>
            </a:r>
          </a:p>
          <a:p>
            <a:r>
              <a:rPr lang="en-US" sz="1400"/>
              <a:t> </a:t>
            </a:r>
            <a:r>
              <a:rPr lang="en-US" sz="1400" b="1"/>
              <a:t>Long short-term memory (LSTM) – </a:t>
            </a:r>
          </a:p>
          <a:p>
            <a:r>
              <a:rPr lang="en-US" sz="1400"/>
              <a:t> Long short-term memory deals with algorithms that try to mimic the human brain.</a:t>
            </a:r>
          </a:p>
          <a:p>
            <a:r>
              <a:rPr lang="en-US" sz="1400"/>
              <a:t>We will feed the image features extracted from CNN into the LSTM model which will be responsible for generating the image captions</a:t>
            </a:r>
            <a:endParaRPr lang="en-IN" sz="1400"/>
          </a:p>
        </p:txBody>
      </p:sp>
      <p:sp>
        <p:nvSpPr>
          <p:cNvPr id="22" name="Rectangle 21">
            <a:extLst>
              <a:ext uri="{FF2B5EF4-FFF2-40B4-BE49-F238E27FC236}">
                <a16:creationId xmlns:a16="http://schemas.microsoft.com/office/drawing/2014/main" xmlns="" id="{EB97D8A6-1C5A-42B6-AE78-F3D0F9BDF02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383661" y="0"/>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7" name="Graphic 6" descr="Satellite dish">
            <a:extLst>
              <a:ext uri="{FF2B5EF4-FFF2-40B4-BE49-F238E27FC236}">
                <a16:creationId xmlns:a16="http://schemas.microsoft.com/office/drawing/2014/main" xmlns="" id="{BE653110-E75E-D762-6818-82A4D6CF9367}"/>
              </a:ext>
            </a:extLst>
          </p:cNvPr>
          <p:cNvPicPr>
            <a:picLocks noChangeAspect="1"/>
          </p:cNvPicPr>
          <p:nvPr/>
        </p:nvPicPr>
        <p:blipFill>
          <a:blip r:embed="rId2">
            <a:extLst>
              <a:ext uri="{28A0092B-C50C-407E-A947-70E740481C1C}">
                <a14:useLocalDpi xmlns:a14="http://schemas.microsoft.com/office/drawing/2010/main" xmlns="" val="0"/>
              </a:ext>
              <a:ext uri="{96DAC541-7B7A-43D3-8B79-37D633B846F1}">
                <asvg:svgBlip xmlns:asvg="http://schemas.microsoft.com/office/drawing/2016/SVG/main" xmlns="" r:embed="rId3"/>
              </a:ext>
            </a:extLst>
          </a:blip>
          <a:stretch>
            <a:fillRect/>
          </a:stretch>
        </p:blipFill>
        <p:spPr>
          <a:xfrm>
            <a:off x="8252340" y="1778834"/>
            <a:ext cx="3299579" cy="3299579"/>
          </a:xfrm>
          <a:prstGeom prst="rect">
            <a:avLst/>
          </a:prstGeom>
        </p:spPr>
      </p:pic>
    </p:spTree>
    <p:extLst>
      <p:ext uri="{BB962C8B-B14F-4D97-AF65-F5344CB8AC3E}">
        <p14:creationId xmlns:p14="http://schemas.microsoft.com/office/powerpoint/2010/main" xmlns="" val="2097580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C846CA-AC7E-FED9-84B3-9492C8FFA0ED}"/>
              </a:ext>
            </a:extLst>
          </p:cNvPr>
          <p:cNvSpPr>
            <a:spLocks noGrp="1"/>
          </p:cNvSpPr>
          <p:nvPr>
            <p:ph type="title"/>
          </p:nvPr>
        </p:nvSpPr>
        <p:spPr>
          <a:xfrm>
            <a:off x="1127760" y="224135"/>
            <a:ext cx="9601200" cy="1485900"/>
          </a:xfrm>
        </p:spPr>
        <p:txBody>
          <a:bodyPr/>
          <a:lstStyle/>
          <a:p>
            <a:r>
              <a:rPr lang="en-AU" dirty="0"/>
              <a:t>DATASET</a:t>
            </a:r>
            <a:endParaRPr lang="en-IN" dirty="0"/>
          </a:p>
        </p:txBody>
      </p:sp>
      <p:sp>
        <p:nvSpPr>
          <p:cNvPr id="3" name="TextBox 2">
            <a:extLst>
              <a:ext uri="{FF2B5EF4-FFF2-40B4-BE49-F238E27FC236}">
                <a16:creationId xmlns:a16="http://schemas.microsoft.com/office/drawing/2014/main" xmlns="" id="{A14186D0-5F1D-E245-5E82-C6CAC7A0B005}"/>
              </a:ext>
            </a:extLst>
          </p:cNvPr>
          <p:cNvSpPr txBox="1"/>
          <p:nvPr/>
        </p:nvSpPr>
        <p:spPr>
          <a:xfrm>
            <a:off x="1125315" y="844185"/>
            <a:ext cx="3982720" cy="923330"/>
          </a:xfrm>
          <a:prstGeom prst="rect">
            <a:avLst/>
          </a:prstGeom>
          <a:noFill/>
        </p:spPr>
        <p:txBody>
          <a:bodyPr wrap="square" rtlCol="0">
            <a:spAutoFit/>
          </a:bodyPr>
          <a:lstStyle/>
          <a:p>
            <a:r>
              <a:rPr lang="en-IN" b="1" dirty="0"/>
              <a:t>Flickr8k Dataset:</a:t>
            </a:r>
          </a:p>
          <a:p>
            <a:pPr marL="285750" indent="-285750">
              <a:buFont typeface="Arial" panose="020B0604020202020204" pitchFamily="34" charset="0"/>
              <a:buChar char="•"/>
            </a:pPr>
            <a:r>
              <a:rPr lang="en-IN" dirty="0"/>
              <a:t> 8000 images </a:t>
            </a:r>
          </a:p>
          <a:p>
            <a:pPr marL="285750" indent="-285750">
              <a:buFont typeface="Arial" panose="020B0604020202020204" pitchFamily="34" charset="0"/>
              <a:buChar char="•"/>
            </a:pPr>
            <a:r>
              <a:rPr lang="en-IN" dirty="0"/>
              <a:t> 5 captions for each image</a:t>
            </a:r>
          </a:p>
        </p:txBody>
      </p:sp>
      <p:sp>
        <p:nvSpPr>
          <p:cNvPr id="4" name="TextBox 3">
            <a:extLst>
              <a:ext uri="{FF2B5EF4-FFF2-40B4-BE49-F238E27FC236}">
                <a16:creationId xmlns:a16="http://schemas.microsoft.com/office/drawing/2014/main" xmlns="" id="{36B0D1B6-6717-877C-A91C-E4ADB7191C09}"/>
              </a:ext>
            </a:extLst>
          </p:cNvPr>
          <p:cNvSpPr txBox="1"/>
          <p:nvPr/>
        </p:nvSpPr>
        <p:spPr>
          <a:xfrm>
            <a:off x="5201920" y="597753"/>
            <a:ext cx="6675120" cy="369332"/>
          </a:xfrm>
          <a:prstGeom prst="rect">
            <a:avLst/>
          </a:prstGeom>
          <a:noFill/>
        </p:spPr>
        <p:txBody>
          <a:bodyPr wrap="square" rtlCol="0">
            <a:spAutoFit/>
          </a:bodyPr>
          <a:lstStyle/>
          <a:p>
            <a:r>
              <a:rPr lang="en-US" dirty="0"/>
              <a:t>Downloading the dataset from Kaggle:</a:t>
            </a:r>
          </a:p>
        </p:txBody>
      </p:sp>
      <p:pic>
        <p:nvPicPr>
          <p:cNvPr id="8" name="Picture 7">
            <a:extLst>
              <a:ext uri="{FF2B5EF4-FFF2-40B4-BE49-F238E27FC236}">
                <a16:creationId xmlns:a16="http://schemas.microsoft.com/office/drawing/2014/main" xmlns="" id="{E1FB8348-3E65-E7FA-CF9F-FF55D9E7D9E3}"/>
              </a:ext>
            </a:extLst>
          </p:cNvPr>
          <p:cNvPicPr>
            <a:picLocks noChangeAspect="1"/>
          </p:cNvPicPr>
          <p:nvPr/>
        </p:nvPicPr>
        <p:blipFill>
          <a:blip r:embed="rId2"/>
          <a:stretch>
            <a:fillRect/>
          </a:stretch>
        </p:blipFill>
        <p:spPr>
          <a:xfrm>
            <a:off x="5303520" y="1005138"/>
            <a:ext cx="5229955" cy="333422"/>
          </a:xfrm>
          <a:prstGeom prst="rect">
            <a:avLst/>
          </a:prstGeom>
        </p:spPr>
      </p:pic>
      <p:pic>
        <p:nvPicPr>
          <p:cNvPr id="12" name="Picture 11">
            <a:extLst>
              <a:ext uri="{FF2B5EF4-FFF2-40B4-BE49-F238E27FC236}">
                <a16:creationId xmlns:a16="http://schemas.microsoft.com/office/drawing/2014/main" xmlns="" id="{B85125F9-0E4E-C1A1-2AD2-410F016BFBB9}"/>
              </a:ext>
            </a:extLst>
          </p:cNvPr>
          <p:cNvPicPr>
            <a:picLocks noChangeAspect="1"/>
          </p:cNvPicPr>
          <p:nvPr/>
        </p:nvPicPr>
        <p:blipFill>
          <a:blip r:embed="rId3"/>
          <a:stretch>
            <a:fillRect/>
          </a:stretch>
        </p:blipFill>
        <p:spPr>
          <a:xfrm>
            <a:off x="1224280" y="2052320"/>
            <a:ext cx="2921000" cy="2032000"/>
          </a:xfrm>
          <a:prstGeom prst="rect">
            <a:avLst/>
          </a:prstGeom>
        </p:spPr>
      </p:pic>
      <p:pic>
        <p:nvPicPr>
          <p:cNvPr id="14" name="Picture 13">
            <a:extLst>
              <a:ext uri="{FF2B5EF4-FFF2-40B4-BE49-F238E27FC236}">
                <a16:creationId xmlns:a16="http://schemas.microsoft.com/office/drawing/2014/main" xmlns="" id="{9E7EBBFE-D995-9661-E0EC-6DAC487F2092}"/>
              </a:ext>
            </a:extLst>
          </p:cNvPr>
          <p:cNvPicPr>
            <a:picLocks noChangeAspect="1"/>
          </p:cNvPicPr>
          <p:nvPr/>
        </p:nvPicPr>
        <p:blipFill>
          <a:blip r:embed="rId4"/>
          <a:stretch>
            <a:fillRect/>
          </a:stretch>
        </p:blipFill>
        <p:spPr>
          <a:xfrm>
            <a:off x="1224280" y="4483305"/>
            <a:ext cx="2921000" cy="2150560"/>
          </a:xfrm>
          <a:prstGeom prst="rect">
            <a:avLst/>
          </a:prstGeom>
        </p:spPr>
      </p:pic>
      <p:sp>
        <p:nvSpPr>
          <p:cNvPr id="15" name="TextBox 14">
            <a:extLst>
              <a:ext uri="{FF2B5EF4-FFF2-40B4-BE49-F238E27FC236}">
                <a16:creationId xmlns:a16="http://schemas.microsoft.com/office/drawing/2014/main" xmlns="" id="{CF540091-8224-C858-F123-2F0B82CB175F}"/>
              </a:ext>
            </a:extLst>
          </p:cNvPr>
          <p:cNvSpPr txBox="1"/>
          <p:nvPr/>
        </p:nvSpPr>
        <p:spPr>
          <a:xfrm>
            <a:off x="4693920" y="1629874"/>
            <a:ext cx="6273800" cy="2585323"/>
          </a:xfrm>
          <a:prstGeom prst="rect">
            <a:avLst/>
          </a:prstGeom>
          <a:noFill/>
        </p:spPr>
        <p:txBody>
          <a:bodyPr wrap="square" rtlCol="0">
            <a:spAutoFit/>
          </a:bodyPr>
          <a:lstStyle/>
          <a:p>
            <a:r>
              <a:rPr lang="en-US" b="1" dirty="0"/>
              <a:t>Caption1: </a:t>
            </a:r>
            <a:r>
              <a:rPr lang="en-US" dirty="0"/>
              <a:t>A black dog and a spotted dog are fighting</a:t>
            </a:r>
          </a:p>
          <a:p>
            <a:r>
              <a:rPr lang="en-US" b="1" dirty="0"/>
              <a:t>Caption 2: </a:t>
            </a:r>
            <a:r>
              <a:rPr lang="en-US" dirty="0"/>
              <a:t>A black dog and a tri-colored dog playing with each other on the road.</a:t>
            </a:r>
          </a:p>
          <a:p>
            <a:r>
              <a:rPr lang="en-US" b="1" dirty="0"/>
              <a:t>Caption 3: </a:t>
            </a:r>
            <a:r>
              <a:rPr lang="en-US" dirty="0"/>
              <a:t>A black dog and a white dog with brown spots are staring at each other in the street.</a:t>
            </a:r>
          </a:p>
          <a:p>
            <a:r>
              <a:rPr lang="en-US" b="1" dirty="0"/>
              <a:t>Caption 4: </a:t>
            </a:r>
            <a:r>
              <a:rPr lang="en-US" dirty="0"/>
              <a:t>Two dogs of different breeds looking at each other on the road.</a:t>
            </a:r>
          </a:p>
          <a:p>
            <a:r>
              <a:rPr lang="en-US" dirty="0"/>
              <a:t> </a:t>
            </a:r>
            <a:r>
              <a:rPr lang="en-US" b="1" dirty="0"/>
              <a:t>Caption 5: </a:t>
            </a:r>
            <a:r>
              <a:rPr lang="en-US" dirty="0"/>
              <a:t>Two dogs on the pavement moving toward each other.</a:t>
            </a:r>
            <a:endParaRPr lang="en-IN" dirty="0"/>
          </a:p>
        </p:txBody>
      </p:sp>
      <p:sp>
        <p:nvSpPr>
          <p:cNvPr id="16" name="TextBox 15">
            <a:extLst>
              <a:ext uri="{FF2B5EF4-FFF2-40B4-BE49-F238E27FC236}">
                <a16:creationId xmlns:a16="http://schemas.microsoft.com/office/drawing/2014/main" xmlns="" id="{D9AC685F-7393-DBE7-178E-AF42BAF087BC}"/>
              </a:ext>
            </a:extLst>
          </p:cNvPr>
          <p:cNvSpPr txBox="1"/>
          <p:nvPr/>
        </p:nvSpPr>
        <p:spPr>
          <a:xfrm>
            <a:off x="4693920" y="4579754"/>
            <a:ext cx="6273800" cy="1754326"/>
          </a:xfrm>
          <a:prstGeom prst="rect">
            <a:avLst/>
          </a:prstGeom>
          <a:noFill/>
        </p:spPr>
        <p:txBody>
          <a:bodyPr wrap="square" rtlCol="0">
            <a:spAutoFit/>
          </a:bodyPr>
          <a:lstStyle/>
          <a:p>
            <a:r>
              <a:rPr lang="en-US" b="1" dirty="0"/>
              <a:t>Caption 1:  </a:t>
            </a:r>
            <a:r>
              <a:rPr lang="en-US" dirty="0"/>
              <a:t>black dog leaps over a log.</a:t>
            </a:r>
          </a:p>
          <a:p>
            <a:r>
              <a:rPr lang="en-US" b="1" dirty="0"/>
              <a:t>Caption 2: </a:t>
            </a:r>
            <a:r>
              <a:rPr lang="en-US" dirty="0"/>
              <a:t>A grey dog is leaping over a fallen tree.</a:t>
            </a:r>
          </a:p>
          <a:p>
            <a:r>
              <a:rPr lang="en-US" b="1" dirty="0"/>
              <a:t>Caption 3: </a:t>
            </a:r>
            <a:r>
              <a:rPr lang="en-US" dirty="0"/>
              <a:t>A large black dog leaps on a fallen log.</a:t>
            </a:r>
          </a:p>
          <a:p>
            <a:r>
              <a:rPr lang="en-US" b="1" dirty="0"/>
              <a:t>Caption 4: </a:t>
            </a:r>
            <a:r>
              <a:rPr lang="en-US" dirty="0"/>
              <a:t>A mottled black and grey dog in a blue-collar jumping over a fallen tree. </a:t>
            </a:r>
          </a:p>
          <a:p>
            <a:r>
              <a:rPr lang="en-US" b="1" dirty="0"/>
              <a:t>Caption 5: </a:t>
            </a:r>
            <a:r>
              <a:rPr lang="en-US" dirty="0"/>
              <a:t>The black dog jumped the tree stump</a:t>
            </a:r>
            <a:r>
              <a:rPr lang="en-US" b="1" dirty="0"/>
              <a:t>.</a:t>
            </a:r>
            <a:endParaRPr lang="en-IN" dirty="0"/>
          </a:p>
        </p:txBody>
      </p:sp>
    </p:spTree>
    <p:extLst>
      <p:ext uri="{BB962C8B-B14F-4D97-AF65-F5344CB8AC3E}">
        <p14:creationId xmlns:p14="http://schemas.microsoft.com/office/powerpoint/2010/main" xmlns="" val="570833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DFEB171-D555-96CE-DF1D-58721C88C90D}"/>
              </a:ext>
            </a:extLst>
          </p:cNvPr>
          <p:cNvSpPr>
            <a:spLocks noGrp="1"/>
          </p:cNvSpPr>
          <p:nvPr>
            <p:ph type="title"/>
          </p:nvPr>
        </p:nvSpPr>
        <p:spPr>
          <a:xfrm>
            <a:off x="1371600" y="685800"/>
            <a:ext cx="9601200" cy="1485900"/>
          </a:xfrm>
        </p:spPr>
        <p:txBody>
          <a:bodyPr>
            <a:normAutofit/>
          </a:bodyPr>
          <a:lstStyle/>
          <a:p>
            <a:r>
              <a:rPr lang="en-AU"/>
              <a:t>METHODS TO DO THIS</a:t>
            </a:r>
            <a:endParaRPr lang="en-IN" dirty="0"/>
          </a:p>
        </p:txBody>
      </p:sp>
      <p:graphicFrame>
        <p:nvGraphicFramePr>
          <p:cNvPr id="14" name="Content Placeholder 2">
            <a:extLst>
              <a:ext uri="{FF2B5EF4-FFF2-40B4-BE49-F238E27FC236}">
                <a16:creationId xmlns:a16="http://schemas.microsoft.com/office/drawing/2014/main" xmlns="" id="{610CFDA2-B1E6-571A-8F79-C2893238E76D}"/>
              </a:ext>
            </a:extLst>
          </p:cNvPr>
          <p:cNvGraphicFramePr>
            <a:graphicFrameLocks noGrp="1"/>
          </p:cNvGraphicFramePr>
          <p:nvPr>
            <p:ph idx="1"/>
            <p:extLst>
              <p:ext uri="{D42A27DB-BD31-4B8C-83A1-F6EECF244321}">
                <p14:modId xmlns:p14="http://schemas.microsoft.com/office/powerpoint/2010/main" xmlns="" val="3609842941"/>
              </p:ext>
            </p:extLst>
          </p:nvPr>
        </p:nvGraphicFramePr>
        <p:xfrm>
          <a:off x="1371600" y="2286000"/>
          <a:ext cx="9601200" cy="3581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xmlns="" val="24965202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xmlns="" id="{9D9D6BF1-DFF2-4526-9D13-BF339D8C4163}"/>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xmlns="" val="1"/>
              </p:ext>
            </p:extLst>
          </p:nvPr>
        </p:nvGrpSpPr>
        <p:grpSpPr>
          <a:xfrm>
            <a:off x="752858" y="744469"/>
            <a:ext cx="10674117" cy="5349671"/>
            <a:chOff x="752858" y="744469"/>
            <a:chExt cx="10674117" cy="5349671"/>
          </a:xfrm>
        </p:grpSpPr>
        <p:sp>
          <p:nvSpPr>
            <p:cNvPr id="13" name="Freeform 6">
              <a:extLst>
                <a:ext uri="{FF2B5EF4-FFF2-40B4-BE49-F238E27FC236}">
                  <a16:creationId xmlns:a16="http://schemas.microsoft.com/office/drawing/2014/main" xmlns="" id="{A54D4DB6-FB18-4CAE-8905-E0053C92569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txBody>
            <a:bodyPr/>
            <a:lstStyle/>
            <a:p>
              <a:endParaRPr lang="en-IN"/>
            </a:p>
          </p:txBody>
        </p:sp>
        <p:sp>
          <p:nvSpPr>
            <p:cNvPr id="14" name="Freeform 6">
              <a:extLst>
                <a:ext uri="{FF2B5EF4-FFF2-40B4-BE49-F238E27FC236}">
                  <a16:creationId xmlns:a16="http://schemas.microsoft.com/office/drawing/2014/main" xmlns="" id="{1DBD6488-9429-4FFA-8AE8-C4022C39B0F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xmlns="" val="1"/>
                </p:ext>
              </p:extLst>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txBody>
            <a:bodyPr/>
            <a:lstStyle/>
            <a:p>
              <a:endParaRPr lang="en-IN"/>
            </a:p>
          </p:txBody>
        </p:sp>
      </p:grpSp>
      <p:sp>
        <p:nvSpPr>
          <p:cNvPr id="16" name="Rectangle 15">
            <a:extLst>
              <a:ext uri="{FF2B5EF4-FFF2-40B4-BE49-F238E27FC236}">
                <a16:creationId xmlns:a16="http://schemas.microsoft.com/office/drawing/2014/main" xmlns="" id="{56C94072-1B34-48FB-9A9C-5A9A0FFC857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diagram of a computer program&#10;&#10;Description automatically generated">
            <a:extLst>
              <a:ext uri="{FF2B5EF4-FFF2-40B4-BE49-F238E27FC236}">
                <a16:creationId xmlns:a16="http://schemas.microsoft.com/office/drawing/2014/main" xmlns="" id="{EE13D0FC-B74C-A91A-9EEF-4171ED0BBC37}"/>
              </a:ext>
            </a:extLst>
          </p:cNvPr>
          <p:cNvPicPr>
            <a:picLocks noChangeAspect="1"/>
          </p:cNvPicPr>
          <p:nvPr/>
        </p:nvPicPr>
        <p:blipFill rotWithShape="1">
          <a:blip r:embed="rId2"/>
          <a:srcRect t="2252" b="4387"/>
          <a:stretch/>
        </p:blipFill>
        <p:spPr>
          <a:xfrm>
            <a:off x="42014" y="10"/>
            <a:ext cx="12191980" cy="6857990"/>
          </a:xfrm>
          <a:prstGeom prst="rect">
            <a:avLst/>
          </a:prstGeom>
        </p:spPr>
      </p:pic>
      <p:sp>
        <p:nvSpPr>
          <p:cNvPr id="18" name="Rectangle 17">
            <a:extLst>
              <a:ext uri="{FF2B5EF4-FFF2-40B4-BE49-F238E27FC236}">
                <a16:creationId xmlns:a16="http://schemas.microsoft.com/office/drawing/2014/main" xmlns="" id="{1D5941F3-0256-4E90-BBBC-5A6EDEB8E0A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6138004" y="4166755"/>
            <a:ext cx="5607908" cy="2040066"/>
          </a:xfrm>
          <a:prstGeom prst="rect">
            <a:avLst/>
          </a:prstGeom>
          <a:solidFill>
            <a:srgbClr val="000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xmlns="" id="{02E9F62D-CB61-5CE6-4FAD-CFDA706275F1}"/>
              </a:ext>
            </a:extLst>
          </p:cNvPr>
          <p:cNvSpPr txBox="1"/>
          <p:nvPr/>
        </p:nvSpPr>
        <p:spPr>
          <a:xfrm>
            <a:off x="6626783" y="4454916"/>
            <a:ext cx="5268177" cy="1086237"/>
          </a:xfrm>
          <a:prstGeom prst="rect">
            <a:avLst/>
          </a:prstGeom>
        </p:spPr>
        <p:txBody>
          <a:bodyPr vert="horz" lIns="91440" tIns="45720" rIns="91440" bIns="45720" rtlCol="0" anchor="b">
            <a:normAutofit/>
          </a:bodyPr>
          <a:lstStyle/>
          <a:p>
            <a:pPr defTabSz="914400">
              <a:lnSpc>
                <a:spcPct val="89000"/>
              </a:lnSpc>
              <a:spcBef>
                <a:spcPct val="0"/>
              </a:spcBef>
              <a:spcAft>
                <a:spcPts val="600"/>
              </a:spcAft>
            </a:pPr>
            <a:r>
              <a:rPr lang="en-US" sz="3600" cap="all" dirty="0">
                <a:solidFill>
                  <a:srgbClr val="FFFFFF"/>
                </a:solidFill>
                <a:latin typeface="+mj-lt"/>
                <a:ea typeface="+mj-ea"/>
                <a:cs typeface="+mj-cs"/>
              </a:rPr>
              <a:t>ARCHITECTURE</a:t>
            </a:r>
          </a:p>
        </p:txBody>
      </p:sp>
      <p:sp>
        <p:nvSpPr>
          <p:cNvPr id="20" name="Freeform: Shape 19">
            <a:extLst>
              <a:ext uri="{FF2B5EF4-FFF2-40B4-BE49-F238E27FC236}">
                <a16:creationId xmlns:a16="http://schemas.microsoft.com/office/drawing/2014/main" xmlns="" id="{A5019358-4900-4555-99FF-EF6AE90B8E3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flipH="1" flipV="1">
            <a:off x="5670146" y="3710250"/>
            <a:ext cx="2131466" cy="1830903"/>
          </a:xfrm>
          <a:custGeom>
            <a:avLst/>
            <a:gdLst>
              <a:gd name="connsiteX0" fmla="*/ 2308583 w 2308583"/>
              <a:gd name="connsiteY0" fmla="*/ 1983044 h 1983044"/>
              <a:gd name="connsiteX1" fmla="*/ 462 w 2308583"/>
              <a:gd name="connsiteY1" fmla="*/ 1983044 h 1983044"/>
              <a:gd name="connsiteX2" fmla="*/ 0 w 2308583"/>
              <a:gd name="connsiteY2" fmla="*/ 1711185 h 1983044"/>
              <a:gd name="connsiteX3" fmla="*/ 2022607 w 2308583"/>
              <a:gd name="connsiteY3" fmla="*/ 1712117 h 1983044"/>
              <a:gd name="connsiteX4" fmla="*/ 2022607 w 2308583"/>
              <a:gd name="connsiteY4" fmla="*/ 0 h 1983044"/>
              <a:gd name="connsiteX5" fmla="*/ 2308583 w 2308583"/>
              <a:gd name="connsiteY5" fmla="*/ 0 h 198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8583" h="1983044">
                <a:moveTo>
                  <a:pt x="2308583" y="1983044"/>
                </a:moveTo>
                <a:lnTo>
                  <a:pt x="462" y="1983044"/>
                </a:lnTo>
                <a:cubicBezTo>
                  <a:pt x="-462" y="1889214"/>
                  <a:pt x="923" y="1805015"/>
                  <a:pt x="0" y="1711185"/>
                </a:cubicBezTo>
                <a:lnTo>
                  <a:pt x="2022607" y="1712117"/>
                </a:lnTo>
                <a:lnTo>
                  <a:pt x="2022607" y="0"/>
                </a:lnTo>
                <a:lnTo>
                  <a:pt x="2308583" y="0"/>
                </a:lnTo>
                <a:close/>
              </a:path>
            </a:pathLst>
          </a:custGeom>
          <a:solidFill>
            <a:srgbClr val="FFFFFF">
              <a:alpha val="70000"/>
            </a:srgbClr>
          </a:solidFill>
          <a:ln w="0">
            <a:noFill/>
            <a:prstDash val="solid"/>
            <a:round/>
            <a:headEnd/>
            <a:tailEnd/>
          </a:ln>
        </p:spPr>
        <p:txBody>
          <a:bodyPr/>
          <a:lstStyle/>
          <a:p>
            <a:endParaRPr lang="en-IN"/>
          </a:p>
        </p:txBody>
      </p:sp>
    </p:spTree>
    <p:extLst>
      <p:ext uri="{BB962C8B-B14F-4D97-AF65-F5344CB8AC3E}">
        <p14:creationId xmlns:p14="http://schemas.microsoft.com/office/powerpoint/2010/main" xmlns="" val="4240515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xmlns="" id="{A14902AA-4E7E-4D93-A756-AC2EF9AAF93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2" y="376"/>
            <a:ext cx="12191998"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10" name="Freeform 6">
            <a:extLst>
              <a:ext uri="{FF2B5EF4-FFF2-40B4-BE49-F238E27FC236}">
                <a16:creationId xmlns:a16="http://schemas.microsoft.com/office/drawing/2014/main" xmlns="" id="{AE0AE5A0-0098-4DC4-82DC-CCE4071B655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flipH="1" flipV="1">
            <a:off x="671285" y="626654"/>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accent1">
              <a:lumMod val="75000"/>
            </a:schemeClr>
          </a:solidFill>
          <a:ln w="0">
            <a:noFill/>
            <a:prstDash val="solid"/>
            <a:round/>
            <a:headEnd/>
            <a:tailEnd/>
          </a:ln>
        </p:spPr>
        <p:txBody>
          <a:bodyPr/>
          <a:lstStyle/>
          <a:p>
            <a:endParaRPr lang="en-IN"/>
          </a:p>
        </p:txBody>
      </p:sp>
      <p:sp useBgFill="1">
        <p:nvSpPr>
          <p:cNvPr id="12" name="Rectangle 11">
            <a:extLst>
              <a:ext uri="{FF2B5EF4-FFF2-40B4-BE49-F238E27FC236}">
                <a16:creationId xmlns:a16="http://schemas.microsoft.com/office/drawing/2014/main" xmlns="" id="{B6D28670-6E3D-4F4B-AD22-EFA33BF3CA2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1076632" y="1010265"/>
            <a:ext cx="11115368" cy="5847734"/>
          </a:xfrm>
          <a:prstGeom prst="rect">
            <a:avLst/>
          </a:prstGeom>
          <a:ln>
            <a:noFill/>
          </a:ln>
        </p:spPr>
        <p:style>
          <a:lnRef idx="2">
            <a:schemeClr val="accent1">
              <a:shade val="50000"/>
            </a:schemeClr>
          </a:lnRef>
          <a:fillRef idx="1001">
            <a:schemeClr val="lt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50975F07-67CF-1F37-45B5-0882504A64EB}"/>
              </a:ext>
            </a:extLst>
          </p:cNvPr>
          <p:cNvSpPr>
            <a:spLocks noGrp="1"/>
          </p:cNvSpPr>
          <p:nvPr>
            <p:ph type="title"/>
          </p:nvPr>
        </p:nvSpPr>
        <p:spPr>
          <a:xfrm>
            <a:off x="1371600" y="1281916"/>
            <a:ext cx="9601200" cy="1485900"/>
          </a:xfrm>
        </p:spPr>
        <p:txBody>
          <a:bodyPr>
            <a:normAutofit/>
          </a:bodyPr>
          <a:lstStyle/>
          <a:p>
            <a:r>
              <a:rPr lang="en-AU" dirty="0"/>
              <a:t>CONCLUSION</a:t>
            </a:r>
            <a:endParaRPr lang="en-IN" dirty="0"/>
          </a:p>
        </p:txBody>
      </p:sp>
      <p:sp>
        <p:nvSpPr>
          <p:cNvPr id="3" name="Content Placeholder 2">
            <a:extLst>
              <a:ext uri="{FF2B5EF4-FFF2-40B4-BE49-F238E27FC236}">
                <a16:creationId xmlns:a16="http://schemas.microsoft.com/office/drawing/2014/main" xmlns="" id="{E3DA3B02-A916-6588-06DD-AE4AD5E90711}"/>
              </a:ext>
            </a:extLst>
          </p:cNvPr>
          <p:cNvSpPr>
            <a:spLocks noGrp="1"/>
          </p:cNvSpPr>
          <p:nvPr>
            <p:ph idx="1"/>
          </p:nvPr>
        </p:nvSpPr>
        <p:spPr>
          <a:xfrm>
            <a:off x="1371600" y="2920620"/>
            <a:ext cx="9601200" cy="2946779"/>
          </a:xfrm>
        </p:spPr>
        <p:txBody>
          <a:bodyPr>
            <a:normAutofit/>
          </a:bodyPr>
          <a:lstStyle/>
          <a:p>
            <a:pPr marL="0" indent="0">
              <a:buNone/>
            </a:pPr>
            <a:r>
              <a:rPr lang="en-US"/>
              <a:t>In conclusion, our project, 'IMAGE CAPTION GENERATOR: Exploring Worlds through Words and Pictures,' showcases the power of technology to bridge the gap between visual content and descriptive language. With its applications in various domains, from social media to accessibility, image caption generation opens up new avenues for exploration and understanding. We invite you to delve deeper into this fascinating field and discover its limitless possibilities. Thank you for joining us on this journey."</a:t>
            </a:r>
            <a:endParaRPr lang="en-IN"/>
          </a:p>
        </p:txBody>
      </p:sp>
    </p:spTree>
    <p:extLst>
      <p:ext uri="{BB962C8B-B14F-4D97-AF65-F5344CB8AC3E}">
        <p14:creationId xmlns:p14="http://schemas.microsoft.com/office/powerpoint/2010/main" xmlns="" val="732448122"/>
      </p:ext>
    </p:extLst>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xmlns="" id="{B709ADC9-6EAF-4268-9415-1ED5ECFA22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xmlns="" id="{4CA52E9D-92BC-32AA-BAA5-01219F721C06}"/>
              </a:ext>
            </a:extLst>
          </p:cNvPr>
          <p:cNvPicPr>
            <a:picLocks noChangeAspect="1"/>
          </p:cNvPicPr>
          <p:nvPr/>
        </p:nvPicPr>
        <p:blipFill rotWithShape="1">
          <a:blip r:embed="rId3">
            <a:alphaModFix amt="40000"/>
          </a:blip>
          <a:srcRect t="2950" b="18379"/>
          <a:stretch/>
        </p:blipFill>
        <p:spPr>
          <a:xfrm>
            <a:off x="20" y="10"/>
            <a:ext cx="12191980" cy="6857990"/>
          </a:xfrm>
          <a:prstGeom prst="rect">
            <a:avLst/>
          </a:prstGeom>
        </p:spPr>
      </p:pic>
      <p:sp>
        <p:nvSpPr>
          <p:cNvPr id="2" name="Title 1">
            <a:extLst>
              <a:ext uri="{FF2B5EF4-FFF2-40B4-BE49-F238E27FC236}">
                <a16:creationId xmlns:a16="http://schemas.microsoft.com/office/drawing/2014/main" xmlns="" id="{A5C93519-6B29-1346-9FCB-0835B80531A4}"/>
              </a:ext>
            </a:extLst>
          </p:cNvPr>
          <p:cNvSpPr>
            <a:spLocks noGrp="1"/>
          </p:cNvSpPr>
          <p:nvPr>
            <p:ph type="ctrTitle"/>
          </p:nvPr>
        </p:nvSpPr>
        <p:spPr>
          <a:xfrm>
            <a:off x="1915128" y="1788454"/>
            <a:ext cx="8361229" cy="2098226"/>
          </a:xfrm>
        </p:spPr>
        <p:txBody>
          <a:bodyPr>
            <a:normAutofit/>
          </a:bodyPr>
          <a:lstStyle/>
          <a:p>
            <a:r>
              <a:rPr lang="en-US"/>
              <a:t>Thank you</a:t>
            </a:r>
          </a:p>
        </p:txBody>
      </p:sp>
    </p:spTree>
    <p:extLst>
      <p:ext uri="{BB962C8B-B14F-4D97-AF65-F5344CB8AC3E}">
        <p14:creationId xmlns:p14="http://schemas.microsoft.com/office/powerpoint/2010/main" xmlns="" val="179912091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93813dd7ca6ad654711aa0ab317e03a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f11dc0ce689dd3925e84e4e35398c6e7"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19E48938-CE0A-4976-83E6-A8FD4583CC20}">
  <ds:schemaRefs>
    <ds:schemaRef ds:uri="http://schemas.microsoft.com/sharepoint/v3/contenttype/forms"/>
  </ds:schemaRefs>
</ds:datastoreItem>
</file>

<file path=customXml/itemProps2.xml><?xml version="1.0" encoding="utf-8"?>
<ds:datastoreItem xmlns:ds="http://schemas.openxmlformats.org/officeDocument/2006/customXml" ds:itemID="{7F32B251-29F3-43CE-BD66-A3B48CC7BC2F}">
  <ds:schemaRefs>
    <ds:schemaRef ds:uri="http://schemas.microsoft.com/office/2006/metadata/contentType"/>
    <ds:schemaRef ds:uri="http://schemas.microsoft.com/office/2006/metadata/properties/metaAttributes"/>
    <ds:schemaRef ds:uri="http://www.w3.org/2000/xmlns/"/>
    <ds:schemaRef ds:uri="http://www.w3.org/2001/XMLSchema"/>
    <ds:schemaRef ds:uri="71af3243-3dd4-4a8d-8c0d-dd76da1f02a5"/>
    <ds:schemaRef ds:uri="16c05727-aa75-4e4a-9b5f-8a80a116589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755A93C-578E-47D2-96A6-AF17136F6BCE}">
  <ds:schemaRefs>
    <ds:schemaRef ds:uri="http://schemas.microsoft.com/office/2006/metadata/properties"/>
    <ds:schemaRef ds:uri="http://www.w3.org/2000/xmlns/"/>
    <ds:schemaRef ds:uri="71af3243-3dd4-4a8d-8c0d-dd76da1f02a5"/>
    <ds:schemaRef ds:uri="http://www.w3.org/2001/XMLSchema-instance"/>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Travel design</Template>
  <TotalTime>0</TotalTime>
  <Words>639</Words>
  <Application>Microsoft Office PowerPoint</Application>
  <PresentationFormat>Custom</PresentationFormat>
  <Paragraphs>69</Paragraphs>
  <Slides>11</Slides>
  <Notes>4</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Crop</vt:lpstr>
      <vt:lpstr>IMAGE CAPTION GENERATOR- exploring Worlds through Words and Pictures</vt:lpstr>
      <vt:lpstr>CONTENTS</vt:lpstr>
      <vt:lpstr>INTRODUCTION</vt:lpstr>
      <vt:lpstr>Slide 4</vt:lpstr>
      <vt:lpstr>PROBLEM STATEMENT  </vt:lpstr>
      <vt:lpstr>METHODS USED</vt:lpstr>
      <vt:lpstr>DATASET</vt:lpstr>
      <vt:lpstr>METHODS TO DO THIS</vt:lpstr>
      <vt:lpstr>Slide 9</vt:lpstr>
      <vt:lpstr>CONCLUSION</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IMAGE CAPTION GENERATOR- exploring Worlds through Words and Pictures</dc:title>
  <dc:creator>Steena Abraham</dc:creator>
  <cp:lastModifiedBy>VEO</cp:lastModifiedBy>
  <cp:revision>2</cp:revision>
  <dcterms:created xsi:type="dcterms:W3CDTF">2024-04-23T07:02:09Z</dcterms:created>
  <dcterms:modified xsi:type="dcterms:W3CDTF">2026-07-08T06:35:42Z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